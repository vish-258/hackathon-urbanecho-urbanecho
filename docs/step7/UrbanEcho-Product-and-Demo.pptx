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cf4f12aa19c4d90" /><Relationship Type="http://schemas.openxmlformats.org/officeDocument/2006/relationships/extended-properties" Target="/docProps/app.xml" Id="Rd9751751447046a4" /><Relationship Type="http://schemas.openxmlformats.org/officeDocument/2006/relationships/officeDocument" Target="/ppt/presentation.xml" Id="R9c78d59feedf4c4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98becce3464947"/>
  </p:sldMasterIdLst>
  <p:notesMasterIdLst>
    <p:notesMasterId xmlns:r="http://schemas.openxmlformats.org/officeDocument/2006/relationships" r:id="R92867057bf8d49c3"/>
  </p:notesMasterIdLst>
  <p:sldIdLst>
    <p:sldId xmlns:r="http://schemas.openxmlformats.org/officeDocument/2006/relationships" id="256" r:id="Rf85243cd42774e9e"/>
    <p:sldId xmlns:r="http://schemas.openxmlformats.org/officeDocument/2006/relationships" id="257" r:id="R400a5f51da274bdb"/>
    <p:sldId xmlns:r="http://schemas.openxmlformats.org/officeDocument/2006/relationships" id="258" r:id="R093548df889146fe"/>
    <p:sldId xmlns:r="http://schemas.openxmlformats.org/officeDocument/2006/relationships" id="259" r:id="R7b024d6734af4ab7"/>
    <p:sldId xmlns:r="http://schemas.openxmlformats.org/officeDocument/2006/relationships" id="260" r:id="R2c0111e7151143af"/>
    <p:sldId xmlns:r="http://schemas.openxmlformats.org/officeDocument/2006/relationships" id="261" r:id="R8d171cfc0ef041ba"/>
    <p:sldId xmlns:r="http://schemas.openxmlformats.org/officeDocument/2006/relationships" id="262" r:id="R581fe7a6350a46aa"/>
    <p:sldId xmlns:r="http://schemas.openxmlformats.org/officeDocument/2006/relationships" id="263" r:id="R96b86634af9f41c9"/>
    <p:sldId xmlns:r="http://schemas.openxmlformats.org/officeDocument/2006/relationships" id="264" r:id="Re9ef8ecd057b4c46"/>
    <p:sldId xmlns:r="http://schemas.openxmlformats.org/officeDocument/2006/relationships" id="265" r:id="Rf1957bc0f46048fa"/>
    <p:sldId xmlns:r="http://schemas.openxmlformats.org/officeDocument/2006/relationships" id="266" r:id="R927e1bdcd0664a8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72e833841e44af" /><Relationship Type="http://schemas.openxmlformats.org/officeDocument/2006/relationships/slideMaster" Target="/ppt/slideMasters/slideMaster1.xml" Id="R8c98becce3464947" /><Relationship Type="http://schemas.openxmlformats.org/officeDocument/2006/relationships/notesMaster" Target="/ppt/notesMasters/notesMaster1.xml" Id="R92867057bf8d49c3" /><Relationship Type="http://schemas.openxmlformats.org/officeDocument/2006/relationships/presProps" Target="/ppt/presProps.xml" Id="Red11cde05f7742a5" /><Relationship Type="http://schemas.openxmlformats.org/officeDocument/2006/relationships/tableStyles" Target="/ppt/tableStyles.xml" Id="Redf42fa89ff1459b" /><Relationship Type="http://schemas.openxmlformats.org/officeDocument/2006/relationships/slide" Target="/ppt/slides/slide1.xml" Id="Rf85243cd42774e9e" /><Relationship Type="http://schemas.openxmlformats.org/officeDocument/2006/relationships/slide" Target="/ppt/slides/slide2.xml" Id="R400a5f51da274bdb" /><Relationship Type="http://schemas.openxmlformats.org/officeDocument/2006/relationships/slide" Target="/ppt/slides/slide3.xml" Id="R093548df889146fe" /><Relationship Type="http://schemas.openxmlformats.org/officeDocument/2006/relationships/slide" Target="/ppt/slides/slide4.xml" Id="R7b024d6734af4ab7" /><Relationship Type="http://schemas.openxmlformats.org/officeDocument/2006/relationships/slide" Target="/ppt/slides/slide5.xml" Id="R2c0111e7151143af" /><Relationship Type="http://schemas.openxmlformats.org/officeDocument/2006/relationships/slide" Target="/ppt/slides/slide6.xml" Id="R8d171cfc0ef041ba" /><Relationship Type="http://schemas.openxmlformats.org/officeDocument/2006/relationships/slide" Target="/ppt/slides/slide7.xml" Id="R581fe7a6350a46aa" /><Relationship Type="http://schemas.openxmlformats.org/officeDocument/2006/relationships/slide" Target="/ppt/slides/slide8.xml" Id="R96b86634af9f41c9" /><Relationship Type="http://schemas.openxmlformats.org/officeDocument/2006/relationships/slide" Target="/ppt/slides/slide9.xml" Id="Re9ef8ecd057b4c46" /><Relationship Type="http://schemas.openxmlformats.org/officeDocument/2006/relationships/slide" Target="/ppt/slides/slide10.xml" Id="Rf1957bc0f46048fa" /><Relationship Type="http://schemas.openxmlformats.org/officeDocument/2006/relationships/slide" Target="/ppt/slides/slide11.xml" Id="R927e1bdcd0664a8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f271554df54d9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21e6fee34474a3a" /><Relationship Type="http://schemas.openxmlformats.org/officeDocument/2006/relationships/notesMaster" Target="/ppt/notesMasters/notesMaster1.xml" Id="R580e9ee1c184403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1f47ad39c78473c" /><Relationship Type="http://schemas.openxmlformats.org/officeDocument/2006/relationships/notesMaster" Target="/ppt/notesMasters/notesMaster1.xml" Id="R218c3c01fe8a409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c9293fc79e4d24" /><Relationship Type="http://schemas.openxmlformats.org/officeDocument/2006/relationships/notesMaster" Target="/ppt/notesMasters/notesMaster1.xml" Id="Rebf5f3b01703439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eddb6c0e84946a0" /><Relationship Type="http://schemas.openxmlformats.org/officeDocument/2006/relationships/notesMaster" Target="/ppt/notesMasters/notesMaster1.xml" Id="R815fd12c771d47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c2635bbcaa8465e" /><Relationship Type="http://schemas.openxmlformats.org/officeDocument/2006/relationships/notesMaster" Target="/ppt/notesMasters/notesMaster1.xml" Id="R6fadac83586f465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f20c1f3d937484c" /><Relationship Type="http://schemas.openxmlformats.org/officeDocument/2006/relationships/notesMaster" Target="/ppt/notesMasters/notesMaster1.xml" Id="Rb52972dcb70a46e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3f05fef76164b0e" /><Relationship Type="http://schemas.openxmlformats.org/officeDocument/2006/relationships/notesMaster" Target="/ppt/notesMasters/notesMaster1.xml" Id="R90c72d969aa2499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77b42f2611b4c0b" /><Relationship Type="http://schemas.openxmlformats.org/officeDocument/2006/relationships/notesMaster" Target="/ppt/notesMasters/notesMaster1.xml" Id="R7abb5c68f7fd412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c1f74917a7e4970" /><Relationship Type="http://schemas.openxmlformats.org/officeDocument/2006/relationships/notesMaster" Target="/ppt/notesMasters/notesMaster1.xml" Id="R3cc25f0ea0374de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a9cae1fb460439b" /><Relationship Type="http://schemas.openxmlformats.org/officeDocument/2006/relationships/notesMaster" Target="/ppt/notesMasters/notesMaster1.xml" Id="R00f4e45b4b71448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f56446c58224910" /><Relationship Type="http://schemas.openxmlformats.org/officeDocument/2006/relationships/notesMaster" Target="/ppt/notesMasters/notesMaster1.xml" Id="R6c78e161e248402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UrbanEcho working local prototype for residential community management. Planning date: 9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Planning hypothesis, not validated customer research. See BUSINESS-CASE.md for buyer, pilot metrics and adoption assumptions. UrbanEcho cannot establish who caused a sound or prove regulatory compliance.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local UrbanEcho screenshot captured during Step 7 on 9 October 2026. All demonstration locations, recordings and calibration shown here are simulated. The application runs at http://localhost:8000/app. See CURRENT-STATUS.md and DEMO-WALKTHROUGH.md.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app/main.py, app/audio.py, app/processing.py, app/evaluation.py, app/daily.py, app/daily_jobs.py, app/device_api.py, compose.yaml and STEP6-VERIFICATION.md. WAV bytes live in a persistent volume. PostgreSQL/PostGIS stores metadata, measurements, incidents and summaries. Physical device uses the same upload contract through an optional private-LAN HTTPS listener. Listener is prepared but disabled.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SIMULATOR-VERIFICATION.md, scripts/verify-simulator.py and docs/step7/DEMO-WALKTHROUGH.md. The original runner verifies all three locations. Step 7 walkthrough demonstrates one selected excessive location while other locations stay normal. Threshold comparison uses unrounded values and strict greater-than. Stale status does not resolve an incident. Identical retries preserve recording identity. Screenshot is actual simulated local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app/daily.py, app/daily_jobs.py, README.md, DAILY-VERIFICATION.md and docs/step7/CURRENT-STATUS.md. Daily aggregation uses duration-weighted sound energy for compatible eligible measurements. Coverage is the union of usable intervals, not a count of all device-seconds. Local-day boundaries handle timezone and DST. Missing audio is not silence. This report is simulated and partial. Recalculation updates the stored summary identity.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STEP6-VERIFICATION.md, 9 October 2026. These are previously recorded checks. The Step 7 CURRENT-STATUS.md distinguishes new checks from this baseline.</a:t>
            </a:r>
          </a:p>
          <a:p xmlns:a="http://schemas.openxmlformats.org/drawingml/2006/main">
            <a:r>
              <a:t>Step 7 performed five targeted tests against disposable PostgreSQL/PostGIS, including both all-location and Workshop-only runs repeated twice. A fresh live demonstration passed on 9 October 2026 around 18:52–18:53 IST. It added 30 recordings and one resolved Workshop incident, preserved older records, and recalculated all three reports. The full 382-backend/34-frontend suites were not rerun for Step 7. See docs/step7/CURRENT-STATUS.md for detailed current checks and final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STEP6-VERIFICATION.md, 9 October 2026. These are previously recorded checks. The Step 7 CURRENT-STATUS.md distinguishes new checks from this baseline.</a:t>
            </a:r>
          </a:p>
          <a:p xmlns:a="http://schemas.openxmlformats.org/drawingml/2006/main">
            <a:r>
              <a:t>Sources: firmware/esp32/README.md, docs/HARDWARE-INTEGRATION.md, firmware/esp32/main and user-confirmed wiring. ESP-WROOM-32-based board with INMP441. Exact carrier model/revision and flash capacity still need confirmation. ESP-IDF v5.4.3 target esp32 build/link passed. Physical board is on another computer. No claim of flashing, real captures, sound-pressure accuracy or calibrated monitoring.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Planning assumptions, not achieved sales or proven savings. Source: BUSINESS-CASE.md. Source: BUSINESS-CASE.md, sections 3–5. Pilot fee is an unvalidated price hypothesis. Users are facilities/security/committee reviewers, not residents, devices or paying organisations. Future site subscription hypothesis is ₹7,500–₹12,000 per community/month for up to three devices. No billing or multi-community service is implemented.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BUSINESS-CASE.md and its dated sources. All planning amounts exclude unquoted acoustic calibration and certification. Continuous audio example: 48,044 bytes per one-second, 16 kHz PCM24 WAV × 86,400 × 30 × 3 = 373,590,144,000 bytes = 373.59 decimal GB, and 7,776,000 separate files. Excludes database, backups and filesystem metadata. No retention automation or cloud object-store migration has been implemented. Device allowance excludes site-dependent installation labour and calibration. Local primary and backup storage allowance is ₹8,000–₹14,000 for two 1 TB drives. Reference/calibration allowance is ₹10,000–₹25,000 per three-device pilot, unquoted. Bare retail reference: board ₹425 https://robocraze.com/products/esp32-development-board and microphone ₹148 https://robocraze.com/products/inmp441-mems-high-precision-omnidirectional-microphone-module-i2s (listing sold out). Future cloud calculation sources: https://www.digitalocean.com/pricing/droplets ($24 4 GiB/2-vCPU VM), https://docs.digitalocean.com/products/volumes/details/pricing/ ($0.10/GiB/month), https://www.backblaze.com/cloud-storage/pricing ($6.95/TB per 30 days). Observed 9 October 2026. Exact modeled totals $37.41 for seven-day retention and $77.80 for thirty-day retention. Cloud example includes a VM, provisioned audio volume and one logical audio backup, but excludes labour, taxes, currency conversion, DB backups and redundancy. No cloud service enabled.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development and adoption plan, not committed delivery dates. Source: BUSINESS-CASE.md, CURRENT-STATUS.md and ACCEPTANCE-CHECKLIST.md. Gates depend on actual board tests, acoustic validation, consent/retention decisions, pilot evidence and reliable operation. Physical milestone: real microphone → ESP32 → UrbanEcho → incident alert → daily summary.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dde99524be4e4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23c17231e840a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c142ff7324456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7b2bf6db824a1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ac212bcbf84a6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3471ae858b42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A79E3F-44B2-4986-AC37-6FC65A6AC7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B8F20E7-78BF-4FAD-91D3-A95CD0DEA0B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8B7C239-EC30-49C5-9184-F898FD0A7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B0D764E-94DF-4134-9DAC-C39931935C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CE66699-98A0-4C64-B181-E5275B9497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B59AF23-7592-4F5D-B332-B6364375FE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27E9D80-9C5C-405F-8CF2-D7D279EE92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3B201FC-0AF2-41DE-B678-D682CC8AD7F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39AB01E-9DF8-4D57-974A-5BEB47BF4A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1BF2EAD-43B2-45F5-BF08-B38C06D6497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8b028209024dcf" /><Relationship Type="http://schemas.openxmlformats.org/officeDocument/2006/relationships/slideLayout" Target="/ppt/slideLayouts/slideLayout1.xml" Id="R37ea192880984ea0" /><Relationship Type="http://schemas.openxmlformats.org/officeDocument/2006/relationships/slideLayout" Target="/ppt/slideLayouts/slideLayout2.xml" Id="R7cb832297a1a4121" /><Relationship Type="http://schemas.openxmlformats.org/officeDocument/2006/relationships/slideLayout" Target="/ppt/slideLayouts/slideLayout3.xml" Id="R5d230c6f6b7c4265" /><Relationship Type="http://schemas.openxmlformats.org/officeDocument/2006/relationships/slideLayout" Target="/ppt/slideLayouts/slideLayout4.xml" Id="Rac6c9ee5860e494b" /><Relationship Type="http://schemas.openxmlformats.org/officeDocument/2006/relationships/slideLayout" Target="/ppt/slideLayouts/slideLayout5.xml" Id="Rb6046e0d9eab4fa6" /><Relationship Type="http://schemas.openxmlformats.org/officeDocument/2006/relationships/slideLayout" Target="/ppt/slideLayouts/slideLayout6.xml" Id="R33b4ba515b384d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ea192880984ea0"/>
    <p:sldLayoutId xmlns:r="http://schemas.openxmlformats.org/officeDocument/2006/relationships" id="2147483650" r:id="R7cb832297a1a4121"/>
    <p:sldLayoutId xmlns:r="http://schemas.openxmlformats.org/officeDocument/2006/relationships" id="2147483651" r:id="R5d230c6f6b7c4265"/>
    <p:sldLayoutId xmlns:r="http://schemas.openxmlformats.org/officeDocument/2006/relationships" id="2147483652" r:id="Rac6c9ee5860e494b"/>
    <p:sldLayoutId xmlns:r="http://schemas.openxmlformats.org/officeDocument/2006/relationships" id="2147483653" r:id="Rb6046e0d9eab4fa6"/>
    <p:sldLayoutId xmlns:r="http://schemas.openxmlformats.org/officeDocument/2006/relationships" id="2147483654" r:id="R33b4ba515b384d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cd8f4b40184732" /><Relationship Type="http://schemas.openxmlformats.org/officeDocument/2006/relationships/notesSlide" Target="/ppt/notesSlides/notesSlide1.xml" Id="R3d50fe9e62ec44f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aa3ea61811143dd" /><Relationship Type="http://schemas.openxmlformats.org/officeDocument/2006/relationships/notesSlide" Target="/ppt/notesSlides/notesSlide2.xml" Id="R8fed36ee5f504c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bc937038644860" /><Relationship Type="http://schemas.openxmlformats.org/officeDocument/2006/relationships/image" Target="/ppt/media/image.jpeg" Id="R16e04b5395084cb9" /><Relationship Type="http://schemas.openxmlformats.org/officeDocument/2006/relationships/notesSlide" Target="/ppt/notesSlides/notesSlide3.xml" Id="R4f6cd4c9b27845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35f1d7c013411b" /><Relationship Type="http://schemas.openxmlformats.org/officeDocument/2006/relationships/notesSlide" Target="/ppt/notesSlides/notesSlide4.xml" Id="R53b19cc67f5644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43dbc3fe854c70" /><Relationship Type="http://schemas.openxmlformats.org/officeDocument/2006/relationships/image" Target="/ppt/media/image2.jpeg" Id="Rf0ec65c4cace48ac" /><Relationship Type="http://schemas.openxmlformats.org/officeDocument/2006/relationships/notesSlide" Target="/ppt/notesSlides/notesSlide5.xml" Id="R1815d4cb9a6e43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fb3529084a4574" /><Relationship Type="http://schemas.openxmlformats.org/officeDocument/2006/relationships/image" Target="/ppt/media/image3.jpeg" Id="Rd4eb7a22dd8f45d5" /><Relationship Type="http://schemas.openxmlformats.org/officeDocument/2006/relationships/notesSlide" Target="/ppt/notesSlides/notesSlide6.xml" Id="Rfdaf0fefcc324d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eb70337b094e8b" /><Relationship Type="http://schemas.openxmlformats.org/officeDocument/2006/relationships/notesSlide" Target="/ppt/notesSlides/notesSlide7.xml" Id="R2c9a51ca6b9c49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6ad6aa22284e3a" /><Relationship Type="http://schemas.openxmlformats.org/officeDocument/2006/relationships/notesSlide" Target="/ppt/notesSlides/notesSlide8.xml" Id="R54093789ac93415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054c3d5bac4f0c" /><Relationship Type="http://schemas.openxmlformats.org/officeDocument/2006/relationships/notesSlide" Target="/ppt/notesSlides/notesSlide9.xml" Id="R13494ce3235943e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3b9d8639e346d6" /><Relationship Type="http://schemas.openxmlformats.org/officeDocument/2006/relationships/notesSlide" Target="/ppt/notesSlides/notesSlide10.xml" Id="Re80e239281e64cb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61b3d0c3fe4637" /><Relationship Type="http://schemas.openxmlformats.org/officeDocument/2006/relationships/notesSlide" Target="/ppt/notesSlides/notesSlide11.xml" Id="R67a1862c4da042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3E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-0">
            <a:extLst xmlns:a="http://schemas.openxmlformats.org/drawingml/2006/main">
              <a:ext uri="{FF2B5EF4-FFF2-40B4-BE49-F238E27FC236}">
                <a16:creationId xmlns:a16="http://schemas.microsoft.com/office/drawing/2014/main" id="{E95AA663-AB42-47DF-9D3E-4D92555E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10972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69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6900" b="1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6900" b="1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UrbanEcho</a:t>
            </a:r>
          </a:p>
        </p:txBody>
      </p:sp>
      <p:sp>
        <p:nvSpPr>
          <p:cNvPr id="2" name="text-1">
            <a:extLst xmlns:a="http://schemas.openxmlformats.org/drawingml/2006/main">
              <a:ext uri="{FF2B5EF4-FFF2-40B4-BE49-F238E27FC236}">
                <a16:creationId xmlns:a16="http://schemas.microsoft.com/office/drawing/2014/main" id="{6EE230FF-FE21-455C-B46F-CD28F7463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0"/>
            <a:ext cx="10287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33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33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Noise monitoring for</a:t>
            </a:r>
          </a:p>
          <a:p xmlns:a="http://schemas.openxmlformats.org/drawingml/2006/main">
            <a:pPr algn="l">
              <a:defRPr sz="3300" b="0">
                <a:solidFill>
                  <a:srgbClr val="FFFFFF"/>
                </a:solidFill>
                <a:latin typeface="Noto Sans"/>
                <a:ea typeface="Noto Sans"/>
                <a:cs typeface="Noto Sans"/>
              </a:defRPr>
            </a:pPr>
            <a:r>
              <a:rPr sz="3300" b="0">
                <a:solidFill>
                  <a:srgbClr val="FFFFFF"/>
                </a:solidFill>
                <a:latin typeface="Noto Sans"/>
                <a:ea typeface="Noto Sans"/>
                <a:cs typeface="Noto Sans"/>
              </a:rPr>
              <a:t>residential communities</a:t>
            </a:r>
          </a:p>
        </p:txBody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A48DBED7-D8DE-476F-BC3C-A951BB4CC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57800"/>
            <a:ext cx="714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C6D8CC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C6D8CC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C6D8CC"/>
                </a:solidFill>
                <a:latin typeface="Noto Sans"/>
                <a:ea typeface="Noto Sans"/>
                <a:cs typeface="Noto Sans"/>
              </a:rPr>
              <a:t>Working local prototype</a:t>
            </a:r>
          </a:p>
          <a:p xmlns:a="http://schemas.openxmlformats.org/drawingml/2006/main">
            <a:pPr algn="l">
              <a:defRPr sz="1950" b="0">
                <a:solidFill>
                  <a:srgbClr val="C6D8CC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C6D8CC"/>
                </a:solidFill>
                <a:latin typeface="Noto Sans"/>
                <a:ea typeface="Noto Sans"/>
                <a:cs typeface="Noto Sans"/>
              </a:rPr>
              <a:t>9 October 2026</a:t>
            </a:r>
          </a:p>
        </p:txBody>
      </p:sp>
    </p:spTree>
    <p:extLst>
      <p:ext uri="{BB962C8B-B14F-4D97-AF65-F5344CB8AC3E}">
        <p14:creationId xmlns:p14="http://schemas.microsoft.com/office/powerpoint/2010/main" val="5484884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3">
            <a:extLst xmlns:a="http://schemas.openxmlformats.org/drawingml/2006/main">
              <a:ext uri="{FF2B5EF4-FFF2-40B4-BE49-F238E27FC236}">
                <a16:creationId xmlns:a16="http://schemas.microsoft.com/office/drawing/2014/main" id="{F1A7D8D6-B46E-454D-8ACD-48FB1CE7D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A shared record for community managers</a:t>
            </a:r>
          </a:p>
        </p:txBody>
      </p:sp>
      <p:sp>
        <p:nvSpPr>
          <p:cNvPr id="2" name="text-4">
            <a:extLst xmlns:a="http://schemas.openxmlformats.org/drawingml/2006/main">
              <a:ext uri="{FF2B5EF4-FFF2-40B4-BE49-F238E27FC236}">
                <a16:creationId xmlns:a16="http://schemas.microsoft.com/office/drawing/2014/main" id="{1D1FAE66-6A05-4876-A2B7-9AD4251E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36860"/>
                </a:solidFill>
                <a:latin typeface="Noto Sans"/>
                <a:ea typeface="Noto Sans"/>
                <a:cs typeface="Noto Sans"/>
              </a:rPr>
              <a:t>02</a:t>
            </a:r>
          </a:p>
        </p:txBody>
      </p:sp>
      <p:sp>
        <p:nvSpPr>
          <p:cNvPr id="3" name="text-5">
            <a:extLst xmlns:a="http://schemas.openxmlformats.org/drawingml/2006/main">
              <a:ext uri="{FF2B5EF4-FFF2-40B4-BE49-F238E27FC236}">
                <a16:creationId xmlns:a16="http://schemas.microsoft.com/office/drawing/2014/main" id="{990BFFB4-13ED-4FF5-B4CD-1B2A9828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478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67463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67463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67463"/>
                </a:solidFill>
                <a:latin typeface="Noto Sans"/>
                <a:ea typeface="Noto Sans"/>
                <a:cs typeface="Noto Sans"/>
              </a:rPr>
              <a:t>INTENDED USER</a:t>
            </a:r>
          </a:p>
        </p:txBody>
      </p:sp>
      <p:sp>
        <p:nvSpPr>
          <p:cNvPr id="4" name="text-6">
            <a:extLst xmlns:a="http://schemas.openxmlformats.org/drawingml/2006/main">
              <a:ext uri="{FF2B5EF4-FFF2-40B4-BE49-F238E27FC236}">
                <a16:creationId xmlns:a16="http://schemas.microsoft.com/office/drawing/2014/main" id="{17AA127C-F54E-4346-9F69-635D6793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493395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2700" b="1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The manager of a residential society or gated community</a:t>
            </a:r>
          </a:p>
        </p:txBody>
      </p:sp>
      <p:sp>
        <p:nvSpPr>
          <p:cNvPr id="5" name="text-7">
            <a:extLst xmlns:a="http://schemas.openxmlformats.org/drawingml/2006/main">
              <a:ext uri="{FF2B5EF4-FFF2-40B4-BE49-F238E27FC236}">
                <a16:creationId xmlns:a16="http://schemas.microsoft.com/office/drawing/2014/main" id="{8F51B968-712C-4585-99F9-9B23EC3F4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9525"/>
            <a:ext cx="49339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536860"/>
                </a:solidFill>
                <a:latin typeface="Noto Sans"/>
                <a:ea typeface="Noto Sans"/>
                <a:cs typeface="Noto Sans"/>
              </a:rPr>
              <a:t>A residents’ association or property manager would sponsor an initial pilot.</a:t>
            </a:r>
          </a:p>
        </p:txBody>
      </p:sp>
      <p:sp>
        <p:nvSpPr>
          <p:cNvPr id="6" name="text-8">
            <a:extLst xmlns:a="http://schemas.openxmlformats.org/drawingml/2006/main">
              <a:ext uri="{FF2B5EF4-FFF2-40B4-BE49-F238E27FC236}">
                <a16:creationId xmlns:a16="http://schemas.microsoft.com/office/drawing/2014/main" id="{34E29198-3C5D-4DEF-A853-D73BD59C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478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67463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67463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67463"/>
                </a:solidFill>
                <a:latin typeface="Noto Sans"/>
                <a:ea typeface="Noto Sans"/>
                <a:cs typeface="Noto Sans"/>
              </a:rPr>
              <a:t>PROPOSED USE CASE</a:t>
            </a:r>
          </a:p>
        </p:txBody>
      </p:sp>
      <p:sp>
        <p:nvSpPr>
          <p:cNvPr id="7" name="text-9">
            <a:extLst xmlns:a="http://schemas.openxmlformats.org/drawingml/2006/main">
              <a:ext uri="{FF2B5EF4-FFF2-40B4-BE49-F238E27FC236}">
                <a16:creationId xmlns:a16="http://schemas.microsoft.com/office/drawing/2014/main" id="{32EFE4EA-5CC2-467A-88D0-0FDF4E66C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62150"/>
            <a:ext cx="51054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2400" b="0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Review recurring noise near shared areas using location, time and saved incident history.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B470D8-35EB-4251-B7D6-1C0C81F3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29050"/>
            <a:ext cx="5105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8CF"/>
            </a:solidFill>
          </a:ln>
        </p:spPr>
      </p:sp>
      <p:sp>
        <p:nvSpPr>
          <p:cNvPr id="9" name="text-10">
            <a:extLst xmlns:a="http://schemas.openxmlformats.org/drawingml/2006/main">
              <a:ext uri="{FF2B5EF4-FFF2-40B4-BE49-F238E27FC236}">
                <a16:creationId xmlns:a16="http://schemas.microsoft.com/office/drawing/2014/main" id="{D707AD51-18FD-4088-BF54-31873E8D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24325"/>
            <a:ext cx="51054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Pilot question</a:t>
            </a:r>
          </a:p>
          <a:p xmlns:a="http://schemas.openxmlformats.org/drawingml/2006/main">
            <a:pPr algn="l">
              <a:defRPr sz="2100" b="0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Does a common record help staff respond sooner and close complaints with clearer evidence?</a:t>
            </a:r>
          </a:p>
        </p:txBody>
      </p:sp>
    </p:spTree>
    <p:extLst>
      <p:ext uri="{BB962C8B-B14F-4D97-AF65-F5344CB8AC3E}">
        <p14:creationId xmlns:p14="http://schemas.microsoft.com/office/powerpoint/2010/main" val="5908397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1">
            <a:extLst xmlns:a="http://schemas.openxmlformats.org/drawingml/2006/main">
              <a:ext uri="{FF2B5EF4-FFF2-40B4-BE49-F238E27FC236}">
                <a16:creationId xmlns:a16="http://schemas.microsoft.com/office/drawing/2014/main" id="{4FD4C876-A4B5-4F96-A2E7-709C02093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The working application</a:t>
            </a:r>
          </a:p>
        </p:txBody>
      </p:sp>
      <p:sp>
        <p:nvSpPr>
          <p:cNvPr id="2" name="text-12">
            <a:extLst xmlns:a="http://schemas.openxmlformats.org/drawingml/2006/main">
              <a:ext uri="{FF2B5EF4-FFF2-40B4-BE49-F238E27FC236}">
                <a16:creationId xmlns:a16="http://schemas.microsoft.com/office/drawing/2014/main" id="{165482DE-E701-446C-B2D6-F2E2F296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36860"/>
                </a:solidFill>
                <a:latin typeface="Noto Sans"/>
                <a:ea typeface="Noto Sans"/>
                <a:cs typeface="Noto Sans"/>
              </a:rPr>
              <a:t>03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EC29B8-9AA6-4733-BB99-C1A43A3B9E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e04b5395084cb9"/>
          <a:srcRect xmlns:a="http://schemas.openxmlformats.org/drawingml/2006/main" l="0" t="16050" r="0" b="44360"/>
          <a:stretch xmlns:a="http://schemas.openxmlformats.org/drawingml/2006/main"/>
        </p:blipFill>
        <p:spPr>
          <a:xfrm xmlns:a="http://schemas.openxmlformats.org/drawingml/2006/main">
            <a:off x="7117784" y="1304925"/>
            <a:ext cx="3290432" cy="4657725"/>
          </a:xfrm>
          <a:prstGeom xmlns:a="http://schemas.openxmlformats.org/drawingml/2006/main" prst="rect">
            <a:avLst/>
          </a:prstGeom>
        </p:spPr>
      </p:pic>
      <p:sp>
        <p:nvSpPr>
          <p:cNvPr id="4" name="text-13">
            <a:extLst xmlns:a="http://schemas.openxmlformats.org/drawingml/2006/main">
              <a:ext uri="{FF2B5EF4-FFF2-40B4-BE49-F238E27FC236}">
                <a16:creationId xmlns:a16="http://schemas.microsoft.com/office/drawing/2014/main" id="{06470E62-013A-4988-AF5B-F424EBA6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4648200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2250" b="1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A map connects each reading to its registered location.</a:t>
            </a:r>
          </a:p>
        </p:txBody>
      </p:sp>
      <p:sp>
        <p:nvSpPr>
          <p:cNvPr id="5" name="text-14">
            <a:extLst xmlns:a="http://schemas.openxmlformats.org/drawingml/2006/main">
              <a:ext uri="{FF2B5EF4-FFF2-40B4-BE49-F238E27FC236}">
                <a16:creationId xmlns:a16="http://schemas.microsoft.com/office/drawing/2014/main" id="{299B1E1E-C417-488D-AB82-B0F3BA74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4781550" cy="2409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Latest levels and device freshness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Saved incidents and notifications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Location history and daily reports</a:t>
            </a:r>
          </a:p>
        </p:txBody>
      </p:sp>
      <p:sp>
        <p:nvSpPr>
          <p:cNvPr id="6" name="text-15">
            <a:extLst xmlns:a="http://schemas.openxmlformats.org/drawingml/2006/main">
              <a:ext uri="{FF2B5EF4-FFF2-40B4-BE49-F238E27FC236}">
                <a16:creationId xmlns:a16="http://schemas.microsoft.com/office/drawing/2014/main" id="{B7E16E41-5636-48B4-A25F-DDFE93E7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2455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536860"/>
                </a:solidFill>
                <a:latin typeface="Noto Sans"/>
                <a:ea typeface="Noto Sans"/>
                <a:cs typeface="Noto Sans"/>
              </a:rPr>
              <a:t>Three simulated devices report. Older demo devices remain silent, so missing-data indicators stay visible.</a:t>
            </a:r>
          </a:p>
        </p:txBody>
      </p:sp>
    </p:spTree>
    <p:extLst>
      <p:ext uri="{BB962C8B-B14F-4D97-AF65-F5344CB8AC3E}">
        <p14:creationId xmlns:p14="http://schemas.microsoft.com/office/powerpoint/2010/main" val="5188401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2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568795-E81F-44D0-B09E-2595BCA9C306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9220200" y="4638675"/>
            <a:ext cx="1285875" cy="6572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67463"/>
            </a:solidFill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C130F1-CD41-46D2-A436-56488BE93775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7934325" y="4638675"/>
            <a:ext cx="1285875" cy="6572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67463"/>
            </a:solidFill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A20DAC-2B8A-4213-AAAD-47D911A8217A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9220200" y="2990850"/>
            <a:ext cx="1285875" cy="695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67463"/>
            </a:solidFill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FF05F0-765F-4C05-BB8B-923AECD176AE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7934325" y="2990850"/>
            <a:ext cx="1285875" cy="6953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67463"/>
            </a:solidFill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6E7B79-5654-420F-A98C-B769C26679DF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3048000" y="2990850"/>
            <a:ext cx="1905000" cy="1000125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97521F"/>
            </a:solidFill>
            <a:prstDash val="dash"/>
            <a:tailEnd type="triangle" w="sm" len="sm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2FB431-064B-4298-A6F8-B58E4D786DDD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6096000" y="23145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67463"/>
            </a:solidFill>
            <a:prstDash val="solid"/>
            <a:tailEnd type="triangle" w="sm" len="sm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7C09B3-180D-4D95-A538-80378F4B0307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048000" y="23145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67463"/>
            </a:solidFill>
            <a:prstDash val="solid"/>
            <a:tailEnd type="triangle" w="sm" len="sm"/>
          </a:ln>
        </p:spPr>
      </p:cxnSp>
      <p:sp>
        <p:nvSpPr>
          <p:cNvPr id="19" name="text-16">
            <a:extLst xmlns:a="http://schemas.openxmlformats.org/drawingml/2006/main">
              <a:ext uri="{FF2B5EF4-FFF2-40B4-BE49-F238E27FC236}">
                <a16:creationId xmlns:a16="http://schemas.microsoft.com/office/drawing/2014/main" id="{02B8242F-5E52-4F7F-8C9D-38911080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The recording and reporting flow</a:t>
            </a:r>
          </a:p>
        </p:txBody>
      </p:sp>
      <p:sp>
        <p:nvSpPr>
          <p:cNvPr id="2" name="text-17">
            <a:extLst xmlns:a="http://schemas.openxmlformats.org/drawingml/2006/main">
              <a:ext uri="{FF2B5EF4-FFF2-40B4-BE49-F238E27FC236}">
                <a16:creationId xmlns:a16="http://schemas.microsoft.com/office/drawing/2014/main" id="{E59F0A8C-0732-4B1A-8F70-829C4C659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36860"/>
                </a:solidFill>
                <a:latin typeface="Noto Sans"/>
                <a:ea typeface="Noto Sans"/>
                <a:cs typeface="Noto Sans"/>
              </a:rPr>
              <a:t>04</a:t>
            </a:r>
          </a:p>
        </p:txBody>
      </p:sp>
      <p:sp>
        <p:nvSpPr>
          <p:cNvPr id="3" name="Simulator&#10;3 registered devices">
            <a:extLst xmlns:a="http://schemas.openxmlformats.org/drawingml/2006/main">
              <a:ext uri="{FF2B5EF4-FFF2-40B4-BE49-F238E27FC236}">
                <a16:creationId xmlns:a16="http://schemas.microsoft.com/office/drawing/2014/main" id="{B26D8886-C892-42C4-81AE-EB201609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38300"/>
            <a:ext cx="2438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9DA"/>
          </a:solidFill>
          <a:ln xmlns:a="http://schemas.openxmlformats.org/drawingml/2006/main" w="14288">
            <a:solidFill>
              <a:srgbClr val="267463"/>
            </a:solidFill>
            <a:prstDash val="solid"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Simulator</a:t>
            </a:r>
          </a:p>
          <a:p xmlns:a="http://schemas.openxmlformats.org/drawingml/2006/main">
            <a:pPr algn="ctr">
              <a:defRPr sz="180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3 registered devices</a:t>
            </a:r>
          </a:p>
        </p:txBody>
      </p:sp>
      <p:sp>
        <p:nvSpPr>
          <p:cNvPr id="4" name="FastAPI&#10;audio upload">
            <a:extLst xmlns:a="http://schemas.openxmlformats.org/drawingml/2006/main">
              <a:ext uri="{FF2B5EF4-FFF2-40B4-BE49-F238E27FC236}">
                <a16:creationId xmlns:a16="http://schemas.microsoft.com/office/drawing/2014/main" id="{4FE637FD-957E-40DC-8153-F825A41F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638300"/>
            <a:ext cx="2286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9DA"/>
          </a:solidFill>
          <a:ln xmlns:a="http://schemas.openxmlformats.org/drawingml/2006/main" w="14288">
            <a:solidFill>
              <a:srgbClr val="267463"/>
            </a:solidFill>
            <a:prstDash val="solid"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FastAPI</a:t>
            </a:r>
          </a:p>
          <a:p xmlns:a="http://schemas.openxmlformats.org/drawingml/2006/main">
            <a:pPr algn="ctr">
              <a:defRPr sz="180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audio upload</a:t>
            </a:r>
          </a:p>
        </p:txBody>
      </p:sp>
      <p:sp>
        <p:nvSpPr>
          <p:cNvPr id="5" name="Worker calculates levels&#10;Saved WAV + PostgreSQL / PostGIS">
            <a:extLst xmlns:a="http://schemas.openxmlformats.org/drawingml/2006/main">
              <a:ext uri="{FF2B5EF4-FFF2-40B4-BE49-F238E27FC236}">
                <a16:creationId xmlns:a16="http://schemas.microsoft.com/office/drawing/2014/main" id="{4BC7BE78-FF5C-47FE-9590-A8CE82411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38300"/>
            <a:ext cx="47244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9DA"/>
          </a:solidFill>
          <a:ln xmlns:a="http://schemas.openxmlformats.org/drawingml/2006/main" w="14288">
            <a:solidFill>
              <a:srgbClr val="267463"/>
            </a:solidFill>
            <a:prstDash val="solid"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Worker calculates levels</a:t>
            </a:r>
          </a:p>
          <a:p xmlns:a="http://schemas.openxmlformats.org/drawingml/2006/main">
            <a:pPr algn="ctr">
              <a:defRPr sz="180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Saved WAV + PostgreSQL / PostGIS</a:t>
            </a:r>
          </a:p>
        </p:txBody>
      </p:sp>
      <p:sp>
        <p:nvSpPr>
          <p:cNvPr id="8" name="ESP32 + INMP441&#10;Physical test pending">
            <a:extLst xmlns:a="http://schemas.openxmlformats.org/drawingml/2006/main">
              <a:ext uri="{FF2B5EF4-FFF2-40B4-BE49-F238E27FC236}">
                <a16:creationId xmlns:a16="http://schemas.microsoft.com/office/drawing/2014/main" id="{5D263FDE-FADB-4DB7-BA14-B3DAF8C9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48050"/>
            <a:ext cx="2438400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5F0"/>
          </a:solidFill>
          <a:ln xmlns:a="http://schemas.openxmlformats.org/drawingml/2006/main" w="14288">
            <a:solidFill>
              <a:srgbClr val="97521F"/>
            </a:solidFill>
            <a:prstDash val="dash"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 b="1">
                <a:solidFill>
                  <a:srgbClr val="97521F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97521F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97521F"/>
                </a:solidFill>
                <a:latin typeface="Noto Sans"/>
                <a:ea typeface="Noto Sans"/>
                <a:cs typeface="Noto Sans"/>
              </a:rPr>
              <a:t>ESP32 + INMP441</a:t>
            </a:r>
          </a:p>
          <a:p xmlns:a="http://schemas.openxmlformats.org/drawingml/2006/main">
            <a:pPr algn="ctr">
              <a:defRPr sz="1800" b="1">
                <a:solidFill>
                  <a:srgbClr val="97521F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97521F"/>
                </a:solidFill>
                <a:latin typeface="Noto Sans"/>
                <a:ea typeface="Noto Sans"/>
                <a:cs typeface="Noto Sans"/>
              </a:rPr>
              <a:t>Physical test pending</a:t>
            </a:r>
          </a:p>
        </p:txBody>
      </p:sp>
      <p:sp>
        <p:nvSpPr>
          <p:cNvPr id="10" name="Thresholds&#10;and incidents">
            <a:extLst xmlns:a="http://schemas.openxmlformats.org/drawingml/2006/main">
              <a:ext uri="{FF2B5EF4-FFF2-40B4-BE49-F238E27FC236}">
                <a16:creationId xmlns:a16="http://schemas.microsoft.com/office/drawing/2014/main" id="{E43F5500-3520-42A7-A174-F086FBE0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86175"/>
            <a:ext cx="21526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9DA"/>
          </a:solidFill>
          <a:ln xmlns:a="http://schemas.openxmlformats.org/drawingml/2006/main" w="14288">
            <a:solidFill>
              <a:srgbClr val="267463"/>
            </a:solidFill>
            <a:prstDash val="solid"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Thresholds</a:t>
            </a:r>
          </a:p>
          <a:p xmlns:a="http://schemas.openxmlformats.org/drawingml/2006/main">
            <a:pPr algn="ctr">
              <a:defRPr sz="180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and incidents</a:t>
            </a:r>
          </a:p>
        </p:txBody>
      </p:sp>
      <p:sp>
        <p:nvSpPr>
          <p:cNvPr id="11" name="Daily&#10;summaries">
            <a:extLst xmlns:a="http://schemas.openxmlformats.org/drawingml/2006/main">
              <a:ext uri="{FF2B5EF4-FFF2-40B4-BE49-F238E27FC236}">
                <a16:creationId xmlns:a16="http://schemas.microsoft.com/office/drawing/2014/main" id="{BB8F316A-2CEE-4990-8D64-0D4F47E34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86175"/>
            <a:ext cx="21526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9DA"/>
          </a:solidFill>
          <a:ln xmlns:a="http://schemas.openxmlformats.org/drawingml/2006/main" w="14288">
            <a:solidFill>
              <a:srgbClr val="267463"/>
            </a:solidFill>
            <a:prstDash val="solid"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Daily</a:t>
            </a:r>
          </a:p>
          <a:p xmlns:a="http://schemas.openxmlformats.org/drawingml/2006/main">
            <a:pPr algn="ctr">
              <a:defRPr sz="180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summaries</a:t>
            </a:r>
          </a:p>
        </p:txBody>
      </p:sp>
      <p:sp>
        <p:nvSpPr>
          <p:cNvPr id="12" name="Web application">
            <a:extLst xmlns:a="http://schemas.openxmlformats.org/drawingml/2006/main">
              <a:ext uri="{FF2B5EF4-FFF2-40B4-BE49-F238E27FC236}">
                <a16:creationId xmlns:a16="http://schemas.microsoft.com/office/drawing/2014/main" id="{019BAAF9-8E61-42BF-A9F8-7CD45FED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295900"/>
            <a:ext cx="29146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9DA"/>
          </a:solidFill>
          <a:ln xmlns:a="http://schemas.openxmlformats.org/drawingml/2006/main" w="14288">
            <a:solidFill>
              <a:srgbClr val="267463"/>
            </a:solidFill>
            <a:prstDash val="solid"/>
          </a:ln>
        </p:spPr>
        <p:txBody>
          <a:bodyPr xmlns:a="http://schemas.openxmlformats.org/drawingml/2006/main" lIns="95250" tIns="95250" rIns="95250" bIns="95250" anchor="ctr"/>
          <a:lstStyle xmlns:a="http://schemas.openxmlformats.org/drawingml/2006/main">
            <a:defPPr algn="ctr">
              <a:defRPr sz="180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Web application</a:t>
            </a:r>
          </a:p>
        </p:txBody>
      </p:sp>
      <p:sp>
        <p:nvSpPr>
          <p:cNvPr id="17" name="text-18">
            <a:extLst xmlns:a="http://schemas.openxmlformats.org/drawingml/2006/main">
              <a:ext uri="{FF2B5EF4-FFF2-40B4-BE49-F238E27FC236}">
                <a16:creationId xmlns:a16="http://schemas.microsoft.com/office/drawing/2014/main" id="{5939B5A2-9A9B-4B03-8608-24A7274C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5810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536860"/>
                </a:solidFill>
                <a:latin typeface="Noto Sans"/>
                <a:ea typeface="Noto Sans"/>
                <a:cs typeface="Noto Sans"/>
              </a:rPr>
              <a:t>Live alerts and daily reports</a:t>
            </a:r>
          </a:p>
          <a:p xmlns:a="http://schemas.openxmlformats.org/drawingml/2006/main">
            <a:pPr algn="l">
              <a:defRPr sz="187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536860"/>
                </a:solidFill>
                <a:latin typeface="Noto Sans"/>
                <a:ea typeface="Noto Sans"/>
                <a:cs typeface="Noto Sans"/>
              </a:rPr>
              <a:t>use saved server records.</a:t>
            </a:r>
          </a:p>
        </p:txBody>
      </p:sp>
      <p:sp>
        <p:nvSpPr>
          <p:cNvPr id="18" name="text-19">
            <a:extLst xmlns:a="http://schemas.openxmlformats.org/drawingml/2006/main">
              <a:ext uri="{FF2B5EF4-FFF2-40B4-BE49-F238E27FC236}">
                <a16:creationId xmlns:a16="http://schemas.microsoft.com/office/drawing/2014/main" id="{A5B8FCEC-7704-4E7F-AF38-15B2800F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2428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97521F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97521F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97521F"/>
                </a:solidFill>
                <a:latin typeface="Noto Sans"/>
                <a:ea typeface="Noto Sans"/>
                <a:cs typeface="Noto Sans"/>
              </a:rPr>
              <a:t>Optional LAN HTTPS</a:t>
            </a:r>
          </a:p>
          <a:p xmlns:a="http://schemas.openxmlformats.org/drawingml/2006/main">
            <a:pPr algn="l">
              <a:defRPr sz="1575" b="0">
                <a:solidFill>
                  <a:srgbClr val="97521F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97521F"/>
                </a:solidFill>
                <a:latin typeface="Noto Sans"/>
                <a:ea typeface="Noto Sans"/>
                <a:cs typeface="Noto Sans"/>
              </a:rPr>
              <a:t>prepared, disabled</a:t>
            </a:r>
          </a:p>
        </p:txBody>
      </p:sp>
    </p:spTree>
    <p:extLst>
      <p:ext uri="{BB962C8B-B14F-4D97-AF65-F5344CB8AC3E}">
        <p14:creationId xmlns:p14="http://schemas.microsoft.com/office/powerpoint/2010/main" val="57237587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2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20">
            <a:extLst xmlns:a="http://schemas.openxmlformats.org/drawingml/2006/main">
              <a:ext uri="{FF2B5EF4-FFF2-40B4-BE49-F238E27FC236}">
                <a16:creationId xmlns:a16="http://schemas.microsoft.com/office/drawing/2014/main" id="{78952A65-D272-4BB5-8466-5D82BFCC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A repeatable noise incident demonstration</a:t>
            </a:r>
          </a:p>
        </p:txBody>
      </p:sp>
      <p:sp>
        <p:nvSpPr>
          <p:cNvPr id="2" name="text-21">
            <a:extLst xmlns:a="http://schemas.openxmlformats.org/drawingml/2006/main">
              <a:ext uri="{FF2B5EF4-FFF2-40B4-BE49-F238E27FC236}">
                <a16:creationId xmlns:a16="http://schemas.microsoft.com/office/drawing/2014/main" id="{526DE26C-7F85-493E-AD3C-DFB1A1D9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36860"/>
                </a:solidFill>
                <a:latin typeface="Noto Sans"/>
                <a:ea typeface="Noto Sans"/>
                <a:cs typeface="Noto Sans"/>
              </a:rPr>
              <a:t>05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07582-285C-4F9C-99AB-5F67EFE369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ec65c4cace48ac"/>
          <a:srcRect xmlns:a="http://schemas.openxmlformats.org/drawingml/2006/main" l="0" t="75010" r="0" b="1290"/>
          <a:stretch xmlns:a="http://schemas.openxmlformats.org/drawingml/2006/main"/>
        </p:blipFill>
        <p:spPr>
          <a:xfrm xmlns:a="http://schemas.openxmlformats.org/drawingml/2006/main">
            <a:off x="6354928" y="1428750"/>
            <a:ext cx="5120943" cy="4324350"/>
          </a:xfrm>
          <a:prstGeom xmlns:a="http://schemas.openxmlformats.org/drawingml/2006/main" prst="rect">
            <a:avLst/>
          </a:prstGeom>
        </p:spPr>
      </p:pic>
      <p:sp>
        <p:nvSpPr>
          <p:cNvPr id="4" name="text-22">
            <a:extLst xmlns:a="http://schemas.openxmlformats.org/drawingml/2006/main">
              <a:ext uri="{FF2B5EF4-FFF2-40B4-BE49-F238E27FC236}">
                <a16:creationId xmlns:a16="http://schemas.microsoft.com/office/drawing/2014/main" id="{2E662860-0D72-4893-8100-C52A8C09F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57325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7463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7463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267463"/>
                </a:solidFill>
                <a:latin typeface="Noto Sans"/>
                <a:ea typeface="Noto Sans"/>
                <a:cs typeface="Noto Sans"/>
              </a:rPr>
              <a:t>1</a:t>
            </a:r>
          </a:p>
        </p:txBody>
      </p:sp>
      <p:sp>
        <p:nvSpPr>
          <p:cNvPr id="5" name="text-23">
            <a:extLst xmlns:a="http://schemas.openxmlformats.org/drawingml/2006/main">
              <a:ext uri="{FF2B5EF4-FFF2-40B4-BE49-F238E27FC236}">
                <a16:creationId xmlns:a16="http://schemas.microsoft.com/office/drawing/2014/main" id="{5BAEB69D-5B37-459C-813C-D6B40486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457325"/>
            <a:ext cx="455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Normal and equal levels</a:t>
            </a:r>
          </a:p>
        </p:txBody>
      </p:sp>
      <p:sp>
        <p:nvSpPr>
          <p:cNvPr id="6" name="text-24">
            <a:extLst xmlns:a="http://schemas.openxmlformats.org/drawingml/2006/main">
              <a:ext uri="{FF2B5EF4-FFF2-40B4-BE49-F238E27FC236}">
                <a16:creationId xmlns:a16="http://schemas.microsoft.com/office/drawing/2014/main" id="{B07965E4-6C57-43D0-9F7C-0C53379F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1828800"/>
            <a:ext cx="455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536860"/>
                </a:solidFill>
                <a:latin typeface="Noto Sans"/>
                <a:ea typeface="Noto Sans"/>
                <a:cs typeface="Noto Sans"/>
              </a:rPr>
              <a:t>No new incident</a:t>
            </a:r>
          </a:p>
        </p:txBody>
      </p:sp>
      <p:sp>
        <p:nvSpPr>
          <p:cNvPr id="7" name="text-25">
            <a:extLst xmlns:a="http://schemas.openxmlformats.org/drawingml/2006/main">
              <a:ext uri="{FF2B5EF4-FFF2-40B4-BE49-F238E27FC236}">
                <a16:creationId xmlns:a16="http://schemas.microsoft.com/office/drawing/2014/main" id="{1FDB80E5-C4FF-482F-87D1-ED3828740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52675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7463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7463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267463"/>
                </a:solidFill>
                <a:latin typeface="Noto Sans"/>
                <a:ea typeface="Noto Sans"/>
                <a:cs typeface="Noto Sans"/>
              </a:rPr>
              <a:t>2</a:t>
            </a:r>
          </a:p>
        </p:txBody>
      </p:sp>
      <p:sp>
        <p:nvSpPr>
          <p:cNvPr id="8" name="text-26">
            <a:extLst xmlns:a="http://schemas.openxmlformats.org/drawingml/2006/main">
              <a:ext uri="{FF2B5EF4-FFF2-40B4-BE49-F238E27FC236}">
                <a16:creationId xmlns:a16="http://schemas.microsoft.com/office/drawing/2014/main" id="{54D53CCC-C71A-4694-8AB2-6BBA2BDC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352675"/>
            <a:ext cx="455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Above and sustained</a:t>
            </a:r>
          </a:p>
        </p:txBody>
      </p:sp>
      <p:sp>
        <p:nvSpPr>
          <p:cNvPr id="9" name="text-27">
            <a:extLst xmlns:a="http://schemas.openxmlformats.org/drawingml/2006/main">
              <a:ext uri="{FF2B5EF4-FFF2-40B4-BE49-F238E27FC236}">
                <a16:creationId xmlns:a16="http://schemas.microsoft.com/office/drawing/2014/main" id="{B40000AB-5C36-45A5-8A06-AD0365F21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2724150"/>
            <a:ext cx="455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536860"/>
                </a:solidFill>
                <a:latin typeface="Noto Sans"/>
                <a:ea typeface="Noto Sans"/>
                <a:cs typeface="Noto Sans"/>
              </a:rPr>
              <a:t>One incident grows</a:t>
            </a:r>
          </a:p>
        </p:txBody>
      </p:sp>
      <p:sp>
        <p:nvSpPr>
          <p:cNvPr id="10" name="text-28">
            <a:extLst xmlns:a="http://schemas.openxmlformats.org/drawingml/2006/main">
              <a:ext uri="{FF2B5EF4-FFF2-40B4-BE49-F238E27FC236}">
                <a16:creationId xmlns:a16="http://schemas.microsoft.com/office/drawing/2014/main" id="{A49CAE8C-279E-451E-B004-DF809D2E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7463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7463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267463"/>
                </a:solidFill>
                <a:latin typeface="Noto Sans"/>
                <a:ea typeface="Noto Sans"/>
                <a:cs typeface="Noto Sans"/>
              </a:rPr>
              <a:t>3</a:t>
            </a:r>
          </a:p>
        </p:txBody>
      </p:sp>
      <p:sp>
        <p:nvSpPr>
          <p:cNvPr id="11" name="text-29">
            <a:extLst xmlns:a="http://schemas.openxmlformats.org/drawingml/2006/main">
              <a:ext uri="{FF2B5EF4-FFF2-40B4-BE49-F238E27FC236}">
                <a16:creationId xmlns:a16="http://schemas.microsoft.com/office/drawing/2014/main" id="{12FD24B0-7B75-47DC-8582-6D7FD736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248025"/>
            <a:ext cx="455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Pause the sender</a:t>
            </a:r>
          </a:p>
        </p:txBody>
      </p:sp>
      <p:sp>
        <p:nvSpPr>
          <p:cNvPr id="12" name="text-30">
            <a:extLst xmlns:a="http://schemas.openxmlformats.org/drawingml/2006/main">
              <a:ext uri="{FF2B5EF4-FFF2-40B4-BE49-F238E27FC236}">
                <a16:creationId xmlns:a16="http://schemas.microsoft.com/office/drawing/2014/main" id="{D3250C15-4A15-4F65-8F13-800F6D60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3619500"/>
            <a:ext cx="455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536860"/>
                </a:solidFill>
                <a:latin typeface="Noto Sans"/>
                <a:ea typeface="Noto Sans"/>
                <a:cs typeface="Noto Sans"/>
              </a:rPr>
              <a:t>Stale, still unresolved</a:t>
            </a:r>
          </a:p>
        </p:txBody>
      </p:sp>
      <p:sp>
        <p:nvSpPr>
          <p:cNvPr id="13" name="text-31">
            <a:extLst xmlns:a="http://schemas.openxmlformats.org/drawingml/2006/main">
              <a:ext uri="{FF2B5EF4-FFF2-40B4-BE49-F238E27FC236}">
                <a16:creationId xmlns:a16="http://schemas.microsoft.com/office/drawing/2014/main" id="{7B531EF1-5DED-4A23-9B3C-2B043C0E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43375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7463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7463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267463"/>
                </a:solidFill>
                <a:latin typeface="Noto Sans"/>
                <a:ea typeface="Noto Sans"/>
                <a:cs typeface="Noto Sans"/>
              </a:rPr>
              <a:t>4</a:t>
            </a:r>
          </a:p>
        </p:txBody>
      </p:sp>
      <p:sp>
        <p:nvSpPr>
          <p:cNvPr id="14" name="text-32">
            <a:extLst xmlns:a="http://schemas.openxmlformats.org/drawingml/2006/main">
              <a:ext uri="{FF2B5EF4-FFF2-40B4-BE49-F238E27FC236}">
                <a16:creationId xmlns:a16="http://schemas.microsoft.com/office/drawing/2014/main" id="{5BFEC2FD-C18C-497A-BCD9-C0BA50B6C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143375"/>
            <a:ext cx="455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Three normal readings</a:t>
            </a:r>
          </a:p>
        </p:txBody>
      </p:sp>
      <p:sp>
        <p:nvSpPr>
          <p:cNvPr id="15" name="text-33">
            <a:extLst xmlns:a="http://schemas.openxmlformats.org/drawingml/2006/main">
              <a:ext uri="{FF2B5EF4-FFF2-40B4-BE49-F238E27FC236}">
                <a16:creationId xmlns:a16="http://schemas.microsoft.com/office/drawing/2014/main" id="{913B4B3A-EAE6-49DD-ADD9-D4A2E21E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4514850"/>
            <a:ext cx="455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536860"/>
                </a:solidFill>
                <a:latin typeface="Noto Sans"/>
                <a:ea typeface="Noto Sans"/>
                <a:cs typeface="Noto Sans"/>
              </a:rPr>
              <a:t>Recovery resolves incident</a:t>
            </a:r>
          </a:p>
        </p:txBody>
      </p:sp>
      <p:sp>
        <p:nvSpPr>
          <p:cNvPr id="16" name="text-34">
            <a:extLst xmlns:a="http://schemas.openxmlformats.org/drawingml/2006/main">
              <a:ext uri="{FF2B5EF4-FFF2-40B4-BE49-F238E27FC236}">
                <a16:creationId xmlns:a16="http://schemas.microsoft.com/office/drawing/2014/main" id="{FBF024BF-E716-45C8-8DAA-63BC91A4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67463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67463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267463"/>
                </a:solidFill>
                <a:latin typeface="Noto Sans"/>
                <a:ea typeface="Noto Sans"/>
                <a:cs typeface="Noto Sans"/>
              </a:rPr>
              <a:t>5</a:t>
            </a:r>
          </a:p>
        </p:txBody>
      </p:sp>
      <p:sp>
        <p:nvSpPr>
          <p:cNvPr id="17" name="text-35">
            <a:extLst xmlns:a="http://schemas.openxmlformats.org/drawingml/2006/main">
              <a:ext uri="{FF2B5EF4-FFF2-40B4-BE49-F238E27FC236}">
                <a16:creationId xmlns:a16="http://schemas.microsoft.com/office/drawing/2014/main" id="{30137F96-ED25-49FC-91C7-2B370187A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038725"/>
            <a:ext cx="45529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Repeat an upload</a:t>
            </a:r>
          </a:p>
        </p:txBody>
      </p:sp>
      <p:sp>
        <p:nvSpPr>
          <p:cNvPr id="18" name="text-36">
            <a:extLst xmlns:a="http://schemas.openxmlformats.org/drawingml/2006/main">
              <a:ext uri="{FF2B5EF4-FFF2-40B4-BE49-F238E27FC236}">
                <a16:creationId xmlns:a16="http://schemas.microsoft.com/office/drawing/2014/main" id="{9C896C29-47A4-4138-A139-750FD8494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" y="5410200"/>
            <a:ext cx="455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pPr>
            <a:r>
              <a:rPr sz="1725" b="0">
                <a:solidFill>
                  <a:srgbClr val="536860"/>
                </a:solidFill>
                <a:latin typeface="Noto Sans"/>
                <a:ea typeface="Noto Sans"/>
                <a:cs typeface="Noto Sans"/>
              </a:rPr>
              <a:t>Same saved recording</a:t>
            </a:r>
          </a:p>
        </p:txBody>
      </p:sp>
      <p:sp>
        <p:nvSpPr>
          <p:cNvPr id="19" name="text-37">
            <a:extLst xmlns:a="http://schemas.openxmlformats.org/drawingml/2006/main">
              <a:ext uri="{FF2B5EF4-FFF2-40B4-BE49-F238E27FC236}">
                <a16:creationId xmlns:a16="http://schemas.microsoft.com/office/drawing/2014/main" id="{9A0AB802-FF72-4A31-877D-7C69D00A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769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536860"/>
                </a:solidFill>
                <a:latin typeface="Noto Sans"/>
                <a:ea typeface="Noto Sans"/>
                <a:cs typeface="Noto Sans"/>
              </a:rPr>
              <a:t>Demonstration inputs and calibration remain clearly marked SIMULATED.</a:t>
            </a:r>
          </a:p>
        </p:txBody>
      </p:sp>
    </p:spTree>
    <p:extLst>
      <p:ext uri="{BB962C8B-B14F-4D97-AF65-F5344CB8AC3E}">
        <p14:creationId xmlns:p14="http://schemas.microsoft.com/office/powerpoint/2010/main" val="4418576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2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38">
            <a:extLst xmlns:a="http://schemas.openxmlformats.org/drawingml/2006/main">
              <a:ext uri="{FF2B5EF4-FFF2-40B4-BE49-F238E27FC236}">
                <a16:creationId xmlns:a16="http://schemas.microsoft.com/office/drawing/2014/main" id="{001C3323-BA37-4F96-9914-09E096B8F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Daily reports show recorded coverage</a:t>
            </a:r>
          </a:p>
        </p:txBody>
      </p:sp>
      <p:sp>
        <p:nvSpPr>
          <p:cNvPr id="2" name="text-39">
            <a:extLst xmlns:a="http://schemas.openxmlformats.org/drawingml/2006/main">
              <a:ext uri="{FF2B5EF4-FFF2-40B4-BE49-F238E27FC236}">
                <a16:creationId xmlns:a16="http://schemas.microsoft.com/office/drawing/2014/main" id="{6AE32ED0-56BB-4582-9F87-AA25463A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36860"/>
                </a:solidFill>
                <a:latin typeface="Noto Sans"/>
                <a:ea typeface="Noto Sans"/>
                <a:cs typeface="Noto Sans"/>
              </a:rPr>
              <a:t>06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C54AB3-55CD-4D51-B39A-B77D0FE7BD3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eb7a22dd8f45d5"/>
          <a:srcRect xmlns:a="http://schemas.openxmlformats.org/drawingml/2006/main" l="0" t="27800" r="0" b="57600"/>
          <a:stretch xmlns:a="http://schemas.openxmlformats.org/drawingml/2006/main"/>
        </p:blipFill>
        <p:spPr>
          <a:xfrm xmlns:a="http://schemas.openxmlformats.org/drawingml/2006/main">
            <a:off x="6191250" y="1987270"/>
            <a:ext cx="5391150" cy="3416859"/>
          </a:xfrm>
          <a:prstGeom xmlns:a="http://schemas.openxmlformats.org/drawingml/2006/main" prst="rect">
            <a:avLst/>
          </a:prstGeom>
        </p:spPr>
      </p:pic>
      <p:sp>
        <p:nvSpPr>
          <p:cNvPr id="4" name="text-40">
            <a:extLst xmlns:a="http://schemas.openxmlformats.org/drawingml/2006/main">
              <a:ext uri="{FF2B5EF4-FFF2-40B4-BE49-F238E27FC236}">
                <a16:creationId xmlns:a16="http://schemas.microsoft.com/office/drawing/2014/main" id="{14CF977F-0FFA-4914-AF74-7AA23330F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4857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Average of usable recorded time</a:t>
            </a:r>
          </a:p>
        </p:txBody>
      </p:sp>
      <p:sp>
        <p:nvSpPr>
          <p:cNvPr id="5" name="text-41">
            <a:extLst xmlns:a="http://schemas.openxmlformats.org/drawingml/2006/main">
              <a:ext uri="{FF2B5EF4-FFF2-40B4-BE49-F238E27FC236}">
                <a16:creationId xmlns:a16="http://schemas.microsoft.com/office/drawing/2014/main" id="{2DA89AE0-0034-4974-AF56-78C030AD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71775"/>
            <a:ext cx="5029200" cy="1876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Minimum and maximum levels</a:t>
            </a:r>
          </a:p>
          <a:p xmlns:a="http://schemas.openxmlformats.org/drawingml/2006/main">
            <a:pPr algn="l">
              <a:defRPr sz="2100" b="0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Eligible measurement count</a:t>
            </a:r>
          </a:p>
          <a:p xmlns:a="http://schemas.openxmlformats.org/drawingml/2006/main">
            <a:pPr algn="l">
              <a:defRPr sz="2100" b="0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Incident starts</a:t>
            </a:r>
          </a:p>
          <a:p xmlns:a="http://schemas.openxmlformats.org/drawingml/2006/main">
            <a:pPr algn="l">
              <a:defRPr sz="2100" b="0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Usable duration and coverage</a:t>
            </a:r>
          </a:p>
        </p:txBody>
      </p:sp>
      <p:sp>
        <p:nvSpPr>
          <p:cNvPr id="6" name="text-42">
            <a:extLst xmlns:a="http://schemas.openxmlformats.org/drawingml/2006/main">
              <a:ext uri="{FF2B5EF4-FFF2-40B4-BE49-F238E27FC236}">
                <a16:creationId xmlns:a16="http://schemas.microsoft.com/office/drawing/2014/main" id="{196D758B-6264-4272-A5B1-37F2D2B9B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48958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536860"/>
                </a:solidFill>
                <a:latin typeface="Noto Sans"/>
                <a:ea typeface="Noto Sans"/>
                <a:cs typeface="Noto Sans"/>
              </a:rPr>
              <a:t>Short samples represent only their recorded periods. Missing time never becomes a zero sound level.</a:t>
            </a:r>
          </a:p>
        </p:txBody>
      </p:sp>
      <p:sp>
        <p:nvSpPr>
          <p:cNvPr id="7" name="text-43">
            <a:extLst xmlns:a="http://schemas.openxmlformats.org/drawingml/2006/main">
              <a:ext uri="{FF2B5EF4-FFF2-40B4-BE49-F238E27FC236}">
                <a16:creationId xmlns:a16="http://schemas.microsoft.com/office/drawing/2014/main" id="{05342AB3-7206-4D59-8186-0442609B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3822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536860"/>
                </a:solidFill>
                <a:latin typeface="Noto Sans"/>
                <a:ea typeface="Noto Sans"/>
                <a:cs typeface="Noto Sans"/>
              </a:rPr>
              <a:t>Simulated dB SPL (Z). Real hardware starts uncalibrated.</a:t>
            </a:r>
          </a:p>
        </p:txBody>
      </p:sp>
    </p:spTree>
    <p:extLst>
      <p:ext uri="{BB962C8B-B14F-4D97-AF65-F5344CB8AC3E}">
        <p14:creationId xmlns:p14="http://schemas.microsoft.com/office/powerpoint/2010/main" val="13187448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2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44">
            <a:extLst xmlns:a="http://schemas.openxmlformats.org/drawingml/2006/main">
              <a:ext uri="{FF2B5EF4-FFF2-40B4-BE49-F238E27FC236}">
                <a16:creationId xmlns:a16="http://schemas.microsoft.com/office/drawing/2014/main" id="{95D7CFD1-A6EE-4511-99BC-9B45760C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Verification evidence</a:t>
            </a:r>
          </a:p>
        </p:txBody>
      </p:sp>
      <p:sp>
        <p:nvSpPr>
          <p:cNvPr id="2" name="text-45">
            <a:extLst xmlns:a="http://schemas.openxmlformats.org/drawingml/2006/main">
              <a:ext uri="{FF2B5EF4-FFF2-40B4-BE49-F238E27FC236}">
                <a16:creationId xmlns:a16="http://schemas.microsoft.com/office/drawing/2014/main" id="{F1C7F20D-9650-4D23-B095-08BFE039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36860"/>
                </a:solidFill>
                <a:latin typeface="Noto Sans"/>
                <a:ea typeface="Noto Sans"/>
                <a:cs typeface="Noto Sans"/>
              </a:rPr>
              <a:t>07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CD1C92-EF87-4C12-856A-471F2DBD0349}"/>
              </a:ext>
            </a:extLst>
          </p:cNvPr>
          <p:cNvGraphicFramePr/>
          <p:nvPr/>
        </p:nvGraphicFramePr>
        <p:xfrm>
          <a:off xmlns:a="http://schemas.openxmlformats.org/drawingml/2006/main" x="609600" y="1419225"/>
          <a:ext xmlns:a="http://schemas.openxmlformats.org/drawingml/2006/main" cx="10972800" cy="3076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7734300"/>
                <a:gridCol w="3238500"/>
              </a:tblGrid>
              <a:tr h="61531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Previously recorded: 9 October 2026</a:t>
                      </a:r>
                    </a:p>
                  </a:txBody>
                  <a:tcPr marL="152400" marR="152400" marT="95250" marB="95250" anchor="ctr">
                    <a:solidFill>
                      <a:srgbClr val="143E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Result</a:t>
                      </a:r>
                    </a:p>
                  </a:txBody>
                  <a:tcPr marL="152400" marR="152400" marT="95250" marB="95250" anchor="ctr">
                    <a:solidFill>
                      <a:srgbClr val="143E38"/>
                    </a:solidFill>
                  </a:tcPr>
                </a:tc>
              </a:tr>
              <a:tr h="61531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3E38"/>
                          </a:solidFill>
                          <a:latin typeface="Noto Sans"/>
                          <a:ea typeface="Noto Sans"/>
                          <a:cs typeface="Noto Sans"/>
                        </a:rPr>
                        <a:t>Backend automated checks</a:t>
                      </a:r>
                    </a:p>
                  </a:txBody>
                  <a:tcPr marL="152400" marR="152400" marT="95250" marB="95250" anchor="ctr">
                    <a:solidFill>
                      <a:srgbClr val="F2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3E38"/>
                          </a:solidFill>
                          <a:latin typeface="Noto Sans"/>
                          <a:ea typeface="Noto Sans"/>
                          <a:cs typeface="Noto Sans"/>
                        </a:rPr>
                        <a:t>382 passed</a:t>
                      </a:r>
                    </a:p>
                  </a:txBody>
                  <a:tcPr marL="152400" marR="152400" marT="95250" marB="95250" anchor="ctr">
                    <a:solidFill>
                      <a:srgbClr val="F2F5F0"/>
                    </a:solidFill>
                  </a:tcPr>
                </a:tc>
              </a:tr>
              <a:tr h="61531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3E38"/>
                          </a:solidFill>
                          <a:latin typeface="Noto Sans"/>
                          <a:ea typeface="Noto Sans"/>
                          <a:cs typeface="Noto Sans"/>
                        </a:rPr>
                        <a:t>Frontend checks</a:t>
                      </a:r>
                    </a:p>
                  </a:txBody>
                  <a:tcPr marL="152400" marR="152400" marT="95250" marB="95250" anchor="ctr">
                    <a:solidFill>
                      <a:srgbClr val="F2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3E38"/>
                          </a:solidFill>
                          <a:latin typeface="Noto Sans"/>
                          <a:ea typeface="Noto Sans"/>
                          <a:cs typeface="Noto Sans"/>
                        </a:rPr>
                        <a:t>34 passed</a:t>
                      </a:r>
                    </a:p>
                  </a:txBody>
                  <a:tcPr marL="152400" marR="152400" marT="95250" marB="95250" anchor="ctr">
                    <a:solidFill>
                      <a:srgbClr val="F2F5F0"/>
                    </a:solidFill>
                  </a:tcPr>
                </a:tc>
              </a:tr>
              <a:tr h="61531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3E38"/>
                          </a:solidFill>
                          <a:latin typeface="Noto Sans"/>
                          <a:ea typeface="Noto Sans"/>
                          <a:cs typeface="Noto Sans"/>
                        </a:rPr>
                        <a:t>Saved WAV checksums</a:t>
                      </a:r>
                    </a:p>
                  </a:txBody>
                  <a:tcPr marL="152400" marR="152400" marT="95250" marB="95250" anchor="ctr">
                    <a:solidFill>
                      <a:srgbClr val="F2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3E38"/>
                          </a:solidFill>
                          <a:latin typeface="Noto Sans"/>
                          <a:ea typeface="Noto Sans"/>
                          <a:cs typeface="Noto Sans"/>
                        </a:rPr>
                        <a:t>300 of 300 passed</a:t>
                      </a:r>
                    </a:p>
                  </a:txBody>
                  <a:tcPr marL="152400" marR="152400" marT="95250" marB="95250" anchor="ctr">
                    <a:solidFill>
                      <a:srgbClr val="F2F5F0"/>
                    </a:solidFill>
                  </a:tcPr>
                </a:tc>
              </a:tr>
              <a:tr h="61531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3E38"/>
                          </a:solidFill>
                          <a:latin typeface="Noto Sans"/>
                          <a:ea typeface="Noto Sans"/>
                          <a:cs typeface="Noto Sans"/>
                        </a:rPr>
                        <a:t>Three-location demonstration</a:t>
                      </a:r>
                    </a:p>
                  </a:txBody>
                  <a:tcPr marL="152400" marR="152400" marT="95250" marB="95250" anchor="ctr">
                    <a:solidFill>
                      <a:srgbClr val="F2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43E38"/>
                          </a:solidFill>
                          <a:latin typeface="Noto Sans"/>
                          <a:ea typeface="Noto Sans"/>
                          <a:cs typeface="Noto Sans"/>
                        </a:rPr>
                        <a:t>Two complete runs passed</a:t>
                      </a:r>
                    </a:p>
                  </a:txBody>
                  <a:tcPr marL="152400" marR="152400" marT="95250" marB="95250" anchor="ctr">
                    <a:solidFill>
                      <a:srgbClr val="F2F5F0"/>
                    </a:solidFill>
                  </a:tcPr>
                </a:tc>
              </a:tr>
            </a:tbl>
          </a:graphicData>
        </a:graphic>
      </p:graphicFrame>
      <p:sp>
        <p:nvSpPr>
          <p:cNvPr id="4" name="text-46">
            <a:extLst xmlns:a="http://schemas.openxmlformats.org/drawingml/2006/main">
              <a:ext uri="{FF2B5EF4-FFF2-40B4-BE49-F238E27FC236}">
                <a16:creationId xmlns:a16="http://schemas.microsoft.com/office/drawing/2014/main" id="{4E811052-1CCA-41C9-9649-633BC18F8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67463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67463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67463"/>
                </a:solidFill>
                <a:latin typeface="Noto Sans"/>
                <a:ea typeface="Noto Sans"/>
                <a:cs typeface="Noto Sans"/>
              </a:rPr>
              <a:t>NEW CHECKS IN STEP 7</a:t>
            </a:r>
          </a:p>
        </p:txBody>
      </p:sp>
      <p:sp>
        <p:nvSpPr>
          <p:cNvPr id="5" name="text-47">
            <a:extLst xmlns:a="http://schemas.openxmlformats.org/drawingml/2006/main">
              <a:ext uri="{FF2B5EF4-FFF2-40B4-BE49-F238E27FC236}">
                <a16:creationId xmlns:a16="http://schemas.microsoft.com/office/drawing/2014/main" id="{853D51E2-42ED-4A46-B40C-BD20EEB3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5 focused tests passed. A fresh Workshop-only live demo passed, adding 30 recordings and 1 incident, then updating all three saved daily reports.</a:t>
            </a:r>
          </a:p>
        </p:txBody>
      </p:sp>
      <p:sp>
        <p:nvSpPr>
          <p:cNvPr id="6" name="text-48">
            <a:extLst xmlns:a="http://schemas.openxmlformats.org/drawingml/2006/main">
              <a:ext uri="{FF2B5EF4-FFF2-40B4-BE49-F238E27FC236}">
                <a16:creationId xmlns:a16="http://schemas.microsoft.com/office/drawing/2014/main" id="{2BEAEF75-E0A0-4028-8812-17BE52C1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1038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536860"/>
                </a:solidFill>
                <a:latin typeface="Noto Sans"/>
                <a:ea typeface="Noto Sans"/>
                <a:cs typeface="Noto Sans"/>
              </a:rPr>
              <a:t>Simulated software evidence. Real-device and acoustic validation remain pending.</a:t>
            </a:r>
          </a:p>
        </p:txBody>
      </p:sp>
    </p:spTree>
    <p:extLst>
      <p:ext uri="{BB962C8B-B14F-4D97-AF65-F5344CB8AC3E}">
        <p14:creationId xmlns:p14="http://schemas.microsoft.com/office/powerpoint/2010/main" val="15896642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2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49">
            <a:extLst xmlns:a="http://schemas.openxmlformats.org/drawingml/2006/main">
              <a:ext uri="{FF2B5EF4-FFF2-40B4-BE49-F238E27FC236}">
                <a16:creationId xmlns:a16="http://schemas.microsoft.com/office/drawing/2014/main" id="{890C4BB8-2A9D-45AE-8B6D-E1403B5A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ESP32 integration is prepared</a:t>
            </a:r>
          </a:p>
        </p:txBody>
      </p:sp>
      <p:sp>
        <p:nvSpPr>
          <p:cNvPr id="2" name="text-50">
            <a:extLst xmlns:a="http://schemas.openxmlformats.org/drawingml/2006/main">
              <a:ext uri="{FF2B5EF4-FFF2-40B4-BE49-F238E27FC236}">
                <a16:creationId xmlns:a16="http://schemas.microsoft.com/office/drawing/2014/main" id="{C8F8B087-D5B2-4D6E-8597-0284EAE9D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36860"/>
                </a:solidFill>
                <a:latin typeface="Noto Sans"/>
                <a:ea typeface="Noto Sans"/>
                <a:cs typeface="Noto Sans"/>
              </a:rPr>
              <a:t>08</a:t>
            </a:r>
          </a:p>
        </p:txBody>
      </p:sp>
      <p:sp>
        <p:nvSpPr>
          <p:cNvPr id="3" name="text-51">
            <a:extLst xmlns:a="http://schemas.openxmlformats.org/drawingml/2006/main">
              <a:ext uri="{FF2B5EF4-FFF2-40B4-BE49-F238E27FC236}">
                <a16:creationId xmlns:a16="http://schemas.microsoft.com/office/drawing/2014/main" id="{618919C2-EA0C-4B3F-A6E8-E7779BD89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906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67463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67463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67463"/>
                </a:solidFill>
                <a:latin typeface="Noto Sans"/>
                <a:ea typeface="Noto Sans"/>
                <a:cs typeface="Noto Sans"/>
              </a:rPr>
              <a:t>FIRMWARE COMPILED</a:t>
            </a:r>
          </a:p>
        </p:txBody>
      </p:sp>
      <p:sp>
        <p:nvSpPr>
          <p:cNvPr id="4" name="text-52">
            <a:extLst xmlns:a="http://schemas.openxmlformats.org/drawingml/2006/main">
              <a:ext uri="{FF2B5EF4-FFF2-40B4-BE49-F238E27FC236}">
                <a16:creationId xmlns:a16="http://schemas.microsoft.com/office/drawing/2014/main" id="{4E503469-E757-4349-8949-DBC56E61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19275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2700" b="1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ESP32 + INMP441</a:t>
            </a:r>
          </a:p>
          <a:p xmlns:a="http://schemas.openxmlformats.org/drawingml/2006/main">
            <a:pPr algn="l">
              <a:defRPr sz="270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2700" b="1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C++ with ESP-IDF</a:t>
            </a:r>
          </a:p>
        </p:txBody>
      </p:sp>
      <p:sp>
        <p:nvSpPr>
          <p:cNvPr id="5" name="text-53">
            <a:extLst xmlns:a="http://schemas.openxmlformats.org/drawingml/2006/main">
              <a:ext uri="{FF2B5EF4-FFF2-40B4-BE49-F238E27FC236}">
                <a16:creationId xmlns:a16="http://schemas.microsoft.com/office/drawing/2014/main" id="{20C333CE-FA05-48C0-9EF6-5F238D9F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502920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1 second at 16 kHz</a:t>
            </a:r>
          </a:p>
          <a:p xmlns:a="http://schemas.openxmlformats.org/drawingml/2006/main">
            <a:pPr algn="l">
              <a:defRPr sz="2025" b="0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Mono PCM24 WAV uploads</a:t>
            </a:r>
          </a:p>
          <a:p xmlns:a="http://schemas.openxmlformats.org/drawingml/2006/main">
            <a:pPr algn="l">
              <a:defRPr sz="2025" b="0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Configurable capture/upload intervals</a:t>
            </a:r>
          </a:p>
        </p:txBody>
      </p:sp>
      <p:sp>
        <p:nvSpPr>
          <p:cNvPr id="6" name="text-54">
            <a:extLst xmlns:a="http://schemas.openxmlformats.org/drawingml/2006/main">
              <a:ext uri="{FF2B5EF4-FFF2-40B4-BE49-F238E27FC236}">
                <a16:creationId xmlns:a16="http://schemas.microsoft.com/office/drawing/2014/main" id="{A2761706-ED63-41F5-9504-BD5A384B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507682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pPr>
            <a:r>
              <a:rPr sz="1800" b="0">
                <a:solidFill>
                  <a:srgbClr val="536860"/>
                </a:solidFill>
                <a:latin typeface="Noto Sans"/>
                <a:ea typeface="Noto Sans"/>
                <a:cs typeface="Noto Sans"/>
              </a:rPr>
              <a:t>Private Wi-Fi settings, device credentials and the server address are still required.</a:t>
            </a:r>
          </a:p>
        </p:txBody>
      </p:sp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DC9B1B-FED7-42DA-8367-6C0EDED9C102}"/>
              </a:ext>
            </a:extLst>
          </p:cNvPr>
          <p:cNvGraphicFramePr/>
          <p:nvPr/>
        </p:nvGraphicFramePr>
        <p:xfrm>
          <a:off xmlns:a="http://schemas.openxmlformats.org/drawingml/2006/main" x="6477000" y="1438275"/>
          <a:ext xmlns:a="http://schemas.openxmlformats.org/drawingml/2006/main" cx="5105400" cy="36385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2628900"/>
              </a:tblGrid>
              <a:tr h="6064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INMP441</a:t>
                      </a:r>
                    </a:p>
                  </a:txBody>
                  <a:tcPr marL="152400" marR="152400" marT="95250" marB="95250" anchor="ctr">
                    <a:solidFill>
                      <a:srgbClr val="143E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ESP32</a:t>
                      </a:r>
                    </a:p>
                  </a:txBody>
                  <a:tcPr marL="152400" marR="152400" marT="95250" marB="95250" anchor="ctr">
                    <a:solidFill>
                      <a:srgbClr val="143E38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3E38"/>
                          </a:solidFill>
                          <a:latin typeface="Noto Sans"/>
                          <a:ea typeface="Noto Sans"/>
                          <a:cs typeface="Noto Sans"/>
                        </a:rPr>
                        <a:t>VDD / GND</a:t>
                      </a:r>
                    </a:p>
                  </a:txBody>
                  <a:tcPr marL="152400" marR="152400" marT="95250" marB="95250" anchor="ctr">
                    <a:solidFill>
                      <a:srgbClr val="F2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3E38"/>
                          </a:solidFill>
                          <a:latin typeface="Noto Sans"/>
                          <a:ea typeface="Noto Sans"/>
                          <a:cs typeface="Noto Sans"/>
                        </a:rPr>
                        <a:t>3.3 V / GND</a:t>
                      </a:r>
                    </a:p>
                  </a:txBody>
                  <a:tcPr marL="152400" marR="152400" marT="95250" marB="95250" anchor="ctr">
                    <a:solidFill>
                      <a:srgbClr val="F2F5F0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3E38"/>
                          </a:solidFill>
                          <a:latin typeface="Noto Sans"/>
                          <a:ea typeface="Noto Sans"/>
                          <a:cs typeface="Noto Sans"/>
                        </a:rPr>
                        <a:t>SCK</a:t>
                      </a:r>
                    </a:p>
                  </a:txBody>
                  <a:tcPr marL="152400" marR="152400" marT="95250" marB="95250" anchor="ctr">
                    <a:solidFill>
                      <a:srgbClr val="F2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3E38"/>
                          </a:solidFill>
                          <a:latin typeface="Noto Sans"/>
                          <a:ea typeface="Noto Sans"/>
                          <a:cs typeface="Noto Sans"/>
                        </a:rPr>
                        <a:t>GPIO 26</a:t>
                      </a:r>
                    </a:p>
                  </a:txBody>
                  <a:tcPr marL="152400" marR="152400" marT="95250" marB="95250" anchor="ctr">
                    <a:solidFill>
                      <a:srgbClr val="F2F5F0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3E38"/>
                          </a:solidFill>
                          <a:latin typeface="Noto Sans"/>
                          <a:ea typeface="Noto Sans"/>
                          <a:cs typeface="Noto Sans"/>
                        </a:rPr>
                        <a:t>WS</a:t>
                      </a:r>
                    </a:p>
                  </a:txBody>
                  <a:tcPr marL="152400" marR="152400" marT="95250" marB="95250" anchor="ctr">
                    <a:solidFill>
                      <a:srgbClr val="F2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3E38"/>
                          </a:solidFill>
                          <a:latin typeface="Noto Sans"/>
                          <a:ea typeface="Noto Sans"/>
                          <a:cs typeface="Noto Sans"/>
                        </a:rPr>
                        <a:t>GPIO 25</a:t>
                      </a:r>
                    </a:p>
                  </a:txBody>
                  <a:tcPr marL="152400" marR="152400" marT="95250" marB="95250" anchor="ctr">
                    <a:solidFill>
                      <a:srgbClr val="F2F5F0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3E38"/>
                          </a:solidFill>
                          <a:latin typeface="Noto Sans"/>
                          <a:ea typeface="Noto Sans"/>
                          <a:cs typeface="Noto Sans"/>
                        </a:rPr>
                        <a:t>SD</a:t>
                      </a:r>
                    </a:p>
                  </a:txBody>
                  <a:tcPr marL="152400" marR="152400" marT="95250" marB="95250" anchor="ctr">
                    <a:solidFill>
                      <a:srgbClr val="F2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3E38"/>
                          </a:solidFill>
                          <a:latin typeface="Noto Sans"/>
                          <a:ea typeface="Noto Sans"/>
                          <a:cs typeface="Noto Sans"/>
                        </a:rPr>
                        <a:t>GPIO 33</a:t>
                      </a:r>
                    </a:p>
                  </a:txBody>
                  <a:tcPr marL="152400" marR="152400" marT="95250" marB="95250" anchor="ctr">
                    <a:solidFill>
                      <a:srgbClr val="F2F5F0"/>
                    </a:solidFill>
                  </a:tcPr>
                </a:tc>
              </a:tr>
              <a:tr h="6064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3E38"/>
                          </a:solidFill>
                          <a:latin typeface="Noto Sans"/>
                          <a:ea typeface="Noto Sans"/>
                          <a:cs typeface="Noto Sans"/>
                        </a:rPr>
                        <a:t>L/R</a:t>
                      </a:r>
                    </a:p>
                  </a:txBody>
                  <a:tcPr marL="152400" marR="152400" marT="95250" marB="95250" anchor="ctr">
                    <a:solidFill>
                      <a:srgbClr val="F2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43E38"/>
                          </a:solidFill>
                          <a:latin typeface="Noto Sans"/>
                          <a:ea typeface="Noto Sans"/>
                          <a:cs typeface="Noto Sans"/>
                        </a:rPr>
                        <a:t>GND</a:t>
                      </a:r>
                    </a:p>
                  </a:txBody>
                  <a:tcPr marL="152400" marR="152400" marT="95250" marB="95250" anchor="ctr">
                    <a:solidFill>
                      <a:srgbClr val="F2F5F0"/>
                    </a:solidFill>
                  </a:tcPr>
                </a:tc>
              </a:tr>
            </a:tbl>
          </a:graphicData>
        </a:graphic>
      </p:graphicFrame>
      <p:sp>
        <p:nvSpPr>
          <p:cNvPr id="8" name="text-55">
            <a:extLst xmlns:a="http://schemas.openxmlformats.org/drawingml/2006/main">
              <a:ext uri="{FF2B5EF4-FFF2-40B4-BE49-F238E27FC236}">
                <a16:creationId xmlns:a16="http://schemas.microsoft.com/office/drawing/2014/main" id="{B98415D6-E037-4D51-9597-E6C534E0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10200"/>
            <a:ext cx="51054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97521F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97521F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97521F"/>
                </a:solidFill>
                <a:latin typeface="Noto Sans"/>
                <a:ea typeface="Noto Sans"/>
                <a:cs typeface="Noto Sans"/>
              </a:rPr>
              <a:t>Physical integration and acoustic validation pending</a:t>
            </a:r>
          </a:p>
        </p:txBody>
      </p:sp>
    </p:spTree>
    <p:extLst>
      <p:ext uri="{BB962C8B-B14F-4D97-AF65-F5344CB8AC3E}">
        <p14:creationId xmlns:p14="http://schemas.microsoft.com/office/powerpoint/2010/main" val="22237701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2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56">
            <a:extLst xmlns:a="http://schemas.openxmlformats.org/drawingml/2006/main">
              <a:ext uri="{FF2B5EF4-FFF2-40B4-BE49-F238E27FC236}">
                <a16:creationId xmlns:a16="http://schemas.microsoft.com/office/drawing/2014/main" id="{924E7400-88EB-4925-BEB4-10A11E256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A residential community pilot</a:t>
            </a:r>
          </a:p>
        </p:txBody>
      </p:sp>
      <p:sp>
        <p:nvSpPr>
          <p:cNvPr id="2" name="text-57">
            <a:extLst xmlns:a="http://schemas.openxmlformats.org/drawingml/2006/main">
              <a:ext uri="{FF2B5EF4-FFF2-40B4-BE49-F238E27FC236}">
                <a16:creationId xmlns:a16="http://schemas.microsoft.com/office/drawing/2014/main" id="{144986CA-077A-47C7-A6A6-B0768CBA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36860"/>
                </a:solidFill>
                <a:latin typeface="Noto Sans"/>
                <a:ea typeface="Noto Sans"/>
                <a:cs typeface="Noto Sans"/>
              </a:rPr>
              <a:t>09</a:t>
            </a:r>
          </a:p>
        </p:txBody>
      </p:sp>
      <p:sp>
        <p:nvSpPr>
          <p:cNvPr id="3" name="text-58">
            <a:extLst xmlns:a="http://schemas.openxmlformats.org/drawingml/2006/main">
              <a:ext uri="{FF2B5EF4-FFF2-40B4-BE49-F238E27FC236}">
                <a16:creationId xmlns:a16="http://schemas.microsoft.com/office/drawing/2014/main" id="{2C98AD57-92C2-4CD2-BB7D-6E72FB5A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67463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67463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67463"/>
                </a:solidFill>
                <a:latin typeface="Noto Sans"/>
                <a:ea typeface="Noto Sans"/>
                <a:cs typeface="Noto Sans"/>
              </a:rPr>
              <a:t>INITIAL OFFER</a:t>
            </a:r>
          </a:p>
        </p:txBody>
      </p:sp>
      <p:sp>
        <p:nvSpPr>
          <p:cNvPr id="4" name="text-59">
            <a:extLst xmlns:a="http://schemas.openxmlformats.org/drawingml/2006/main">
              <a:ext uri="{FF2B5EF4-FFF2-40B4-BE49-F238E27FC236}">
                <a16:creationId xmlns:a16="http://schemas.microsoft.com/office/drawing/2014/main" id="{DF584A45-A01E-4B02-98FE-F37262C4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5010150" cy="1514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2475" b="1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An 8-week pilot</a:t>
            </a:r>
          </a:p>
          <a:p xmlns:a="http://schemas.openxmlformats.org/drawingml/2006/main">
            <a:pPr algn="l">
              <a:defRPr sz="2475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2475" b="1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1 community, 3 shared-area devices</a:t>
            </a:r>
          </a:p>
        </p:txBody>
      </p:sp>
      <p:sp>
        <p:nvSpPr>
          <p:cNvPr id="5" name="text-60">
            <a:extLst xmlns:a="http://schemas.openxmlformats.org/drawingml/2006/main">
              <a:ext uri="{FF2B5EF4-FFF2-40B4-BE49-F238E27FC236}">
                <a16:creationId xmlns:a16="http://schemas.microsoft.com/office/drawing/2014/main" id="{4941775F-F735-4EA8-B707-C5723B74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50101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Compare response time and complaint handling with a baseline.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Proposed pilot fee: ₹10,000–₹20,000, with hardware and calibration quoted separately.</a:t>
            </a:r>
          </a:p>
        </p:txBody>
      </p:sp>
      <p:sp>
        <p:nvSpPr>
          <p:cNvPr id="6" name="text-61">
            <a:extLst xmlns:a="http://schemas.openxmlformats.org/drawingml/2006/main">
              <a:ext uri="{FF2B5EF4-FFF2-40B4-BE49-F238E27FC236}">
                <a16:creationId xmlns:a16="http://schemas.microsoft.com/office/drawing/2014/main" id="{46EA3013-C540-40A4-94F5-3293F21D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668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267463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267463"/>
                </a:solidFill>
                <a:latin typeface="Noto Sans"/>
                <a:ea typeface="Noto Sans"/>
                <a:cs typeface="Noto Sans"/>
              </a:defRPr>
            </a:pPr>
            <a:r>
              <a:rPr sz="1650" b="1">
                <a:solidFill>
                  <a:srgbClr val="267463"/>
                </a:solidFill>
                <a:latin typeface="Noto Sans"/>
                <a:ea typeface="Noto Sans"/>
                <a:cs typeface="Noto Sans"/>
              </a:rPr>
              <a:t>FIRST 100 USERS</a:t>
            </a:r>
          </a:p>
        </p:txBody>
      </p:sp>
      <p:sp>
        <p:nvSpPr>
          <p:cNvPr id="7" name="text-62">
            <a:extLst xmlns:a="http://schemas.openxmlformats.org/drawingml/2006/main">
              <a:ext uri="{FF2B5EF4-FFF2-40B4-BE49-F238E27FC236}">
                <a16:creationId xmlns:a16="http://schemas.microsoft.com/office/drawing/2014/main" id="{14EE82E3-BE5F-44BB-BE2E-A525BBA2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62150"/>
            <a:ext cx="50292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2475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2475" b="1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20 communities</a:t>
            </a:r>
          </a:p>
          <a:p xmlns:a="http://schemas.openxmlformats.org/drawingml/2006/main">
            <a:pPr algn="l">
              <a:defRPr sz="2475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2475" b="1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5 recurring reviewers each</a:t>
            </a:r>
          </a:p>
        </p:txBody>
      </p:sp>
      <p:sp>
        <p:nvSpPr>
          <p:cNvPr id="8" name="text-63">
            <a:extLst xmlns:a="http://schemas.openxmlformats.org/drawingml/2006/main">
              <a:ext uri="{FF2B5EF4-FFF2-40B4-BE49-F238E27FC236}">
                <a16:creationId xmlns:a16="http://schemas.microsoft.com/office/drawing/2014/main" id="{665765C9-E52F-49DA-9299-979C22DA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914775"/>
            <a:ext cx="50292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Manager interviews, one supervised pilot, then referrals.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A user reviews the product weekly for four weeks. Future independent use needs access controls.</a:t>
            </a:r>
          </a:p>
        </p:txBody>
      </p:sp>
      <p:sp>
        <p:nvSpPr>
          <p:cNvPr id="9" name="text-64">
            <a:extLst xmlns:a="http://schemas.openxmlformats.org/drawingml/2006/main">
              <a:ext uri="{FF2B5EF4-FFF2-40B4-BE49-F238E27FC236}">
                <a16:creationId xmlns:a16="http://schemas.microsoft.com/office/drawing/2014/main" id="{3CC3AAC4-3F8C-473F-BB97-671176D35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8172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536860"/>
                </a:solidFill>
                <a:latin typeface="Noto Sans"/>
                <a:ea typeface="Noto Sans"/>
                <a:cs typeface="Noto Sans"/>
              </a:rPr>
              <a:t>Targets and prices are hypotheses to test with community managers.</a:t>
            </a:r>
          </a:p>
        </p:txBody>
      </p:sp>
    </p:spTree>
    <p:extLst>
      <p:ext uri="{BB962C8B-B14F-4D97-AF65-F5344CB8AC3E}">
        <p14:creationId xmlns:p14="http://schemas.microsoft.com/office/powerpoint/2010/main" val="10962437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2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65">
            <a:extLst xmlns:a="http://schemas.openxmlformats.org/drawingml/2006/main">
              <a:ext uri="{FF2B5EF4-FFF2-40B4-BE49-F238E27FC236}">
                <a16:creationId xmlns:a16="http://schemas.microsoft.com/office/drawing/2014/main" id="{4D9FC3B4-E503-4C52-A332-D484C327D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Pilot cost assumptions</a:t>
            </a:r>
          </a:p>
        </p:txBody>
      </p:sp>
      <p:sp>
        <p:nvSpPr>
          <p:cNvPr id="2" name="text-66">
            <a:extLst xmlns:a="http://schemas.openxmlformats.org/drawingml/2006/main">
              <a:ext uri="{FF2B5EF4-FFF2-40B4-BE49-F238E27FC236}">
                <a16:creationId xmlns:a16="http://schemas.microsoft.com/office/drawing/2014/main" id="{96FC0C46-7AB3-4FDC-93BF-2406C191A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36860"/>
                </a:solidFill>
                <a:latin typeface="Noto Sans"/>
                <a:ea typeface="Noto Sans"/>
                <a:cs typeface="Noto Sans"/>
              </a:rPr>
              <a:t>10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F6ABB5-C39E-499B-81DB-D27259AC3FF9}"/>
              </a:ext>
            </a:extLst>
          </p:cNvPr>
          <p:cNvGraphicFramePr/>
          <p:nvPr/>
        </p:nvGraphicFramePr>
        <p:xfrm>
          <a:off xmlns:a="http://schemas.openxmlformats.org/drawingml/2006/main" x="609600" y="1438275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3429000"/>
                <a:gridCol w="3638550"/>
              </a:tblGrid>
              <a:tr h="5556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Item</a:t>
                      </a:r>
                    </a:p>
                  </a:txBody>
                  <a:tcPr marL="152400" marR="152400" marT="95250" marB="95250" anchor="ctr">
                    <a:solidFill>
                      <a:srgbClr val="143E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Planning estimate</a:t>
                      </a:r>
                    </a:p>
                  </a:txBody>
                  <a:tcPr marL="152400" marR="152400" marT="95250" marB="95250" anchor="ctr">
                    <a:solidFill>
                      <a:srgbClr val="143E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Noto Sans"/>
                          <a:ea typeface="Noto Sans"/>
                          <a:cs typeface="Noto Sans"/>
                        </a:rPr>
                        <a:t>Basis</a:t>
                      </a:r>
                    </a:p>
                  </a:txBody>
                  <a:tcPr marL="152400" marR="152400" marT="95250" marB="95250" anchor="ctr">
                    <a:solidFill>
                      <a:srgbClr val="143E38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E38"/>
                          </a:solidFill>
                          <a:latin typeface="Noto Sans"/>
                          <a:ea typeface="Noto Sans"/>
                          <a:cs typeface="Noto Sans"/>
                        </a:rPr>
                        <a:t>Complete device assembly</a:t>
                      </a:r>
                    </a:p>
                  </a:txBody>
                  <a:tcPr marL="152400" marR="152400" marT="95250" marB="95250" anchor="ctr">
                    <a:solidFill>
                      <a:srgbClr val="F2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E38"/>
                          </a:solidFill>
                          <a:latin typeface="Noto Sans"/>
                          <a:ea typeface="Noto Sans"/>
                          <a:cs typeface="Noto Sans"/>
                        </a:rPr>
                        <a:t>₹1,800–₹3,000 each</a:t>
                      </a:r>
                    </a:p>
                  </a:txBody>
                  <a:tcPr marL="152400" marR="152400" marT="95250" marB="95250" anchor="ctr">
                    <a:solidFill>
                      <a:srgbClr val="F2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E38"/>
                          </a:solidFill>
                          <a:latin typeface="Noto Sans"/>
                          <a:ea typeface="Noto Sans"/>
                          <a:cs typeface="Noto Sans"/>
                        </a:rPr>
                        <a:t>Unquoted allowance</a:t>
                      </a:r>
                    </a:p>
                  </a:txBody>
                  <a:tcPr marL="152400" marR="152400" marT="95250" marB="95250" anchor="ctr">
                    <a:solidFill>
                      <a:srgbClr val="F2F5F0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E38"/>
                          </a:solidFill>
                          <a:latin typeface="Noto Sans"/>
                          <a:ea typeface="Noto Sans"/>
                          <a:cs typeface="Noto Sans"/>
                        </a:rPr>
                        <a:t>Local storage + backup</a:t>
                      </a:r>
                    </a:p>
                  </a:txBody>
                  <a:tcPr marL="152400" marR="152400" marT="95250" marB="95250" anchor="ctr">
                    <a:solidFill>
                      <a:srgbClr val="F2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E38"/>
                          </a:solidFill>
                          <a:latin typeface="Noto Sans"/>
                          <a:ea typeface="Noto Sans"/>
                          <a:cs typeface="Noto Sans"/>
                        </a:rPr>
                        <a:t>₹8,000–₹14,000 once</a:t>
                      </a:r>
                    </a:p>
                  </a:txBody>
                  <a:tcPr marL="152400" marR="152400" marT="95250" marB="95250" anchor="ctr">
                    <a:solidFill>
                      <a:srgbClr val="F2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E38"/>
                          </a:solidFill>
                          <a:latin typeface="Noto Sans"/>
                          <a:ea typeface="Noto Sans"/>
                          <a:cs typeface="Noto Sans"/>
                        </a:rPr>
                        <a:t>Two 1 TB drives, allowance</a:t>
                      </a:r>
                    </a:p>
                  </a:txBody>
                  <a:tcPr marL="152400" marR="152400" marT="95250" marB="95250" anchor="ctr">
                    <a:solidFill>
                      <a:srgbClr val="F2F5F0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E38"/>
                          </a:solidFill>
                          <a:latin typeface="Noto Sans"/>
                          <a:ea typeface="Noto Sans"/>
                          <a:cs typeface="Noto Sans"/>
                        </a:rPr>
                        <a:t>Local hosting</a:t>
                      </a:r>
                    </a:p>
                  </a:txBody>
                  <a:tcPr marL="152400" marR="152400" marT="95250" marB="95250" anchor="ctr">
                    <a:solidFill>
                      <a:srgbClr val="F2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E38"/>
                          </a:solidFill>
                          <a:latin typeface="Noto Sans"/>
                          <a:ea typeface="Noto Sans"/>
                          <a:cs typeface="Noto Sans"/>
                        </a:rPr>
                        <a:t>₹0 external fee</a:t>
                      </a:r>
                    </a:p>
                  </a:txBody>
                  <a:tcPr marL="152400" marR="152400" marT="95250" marB="95250" anchor="ctr">
                    <a:solidFill>
                      <a:srgbClr val="F2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E38"/>
                          </a:solidFill>
                          <a:latin typeface="Noto Sans"/>
                          <a:ea typeface="Noto Sans"/>
                          <a:cs typeface="Noto Sans"/>
                        </a:rPr>
                        <a:t>Existing PC, extras apply</a:t>
                      </a:r>
                    </a:p>
                  </a:txBody>
                  <a:tcPr marL="152400" marR="152400" marT="95250" marB="95250" anchor="ctr">
                    <a:solidFill>
                      <a:srgbClr val="F2F5F0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E38"/>
                          </a:solidFill>
                          <a:latin typeface="Noto Sans"/>
                          <a:ea typeface="Noto Sans"/>
                          <a:cs typeface="Noto Sans"/>
                        </a:rPr>
                        <a:t>Maintenance per site</a:t>
                      </a:r>
                    </a:p>
                  </a:txBody>
                  <a:tcPr marL="152400" marR="152400" marT="95250" marB="95250" anchor="ctr">
                    <a:solidFill>
                      <a:srgbClr val="F2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E38"/>
                          </a:solidFill>
                          <a:latin typeface="Noto Sans"/>
                          <a:ea typeface="Noto Sans"/>
                          <a:cs typeface="Noto Sans"/>
                        </a:rPr>
                        <a:t>₹3,000–₹9,000/month</a:t>
                      </a:r>
                    </a:p>
                  </a:txBody>
                  <a:tcPr marL="152400" marR="152400" marT="95250" marB="95250" anchor="ctr">
                    <a:solidFill>
                      <a:srgbClr val="F2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E38"/>
                          </a:solidFill>
                          <a:latin typeface="Noto Sans"/>
                          <a:ea typeface="Noto Sans"/>
                          <a:cs typeface="Noto Sans"/>
                        </a:rPr>
                        <a:t>4–12 h at ₹750/h</a:t>
                      </a:r>
                    </a:p>
                  </a:txBody>
                  <a:tcPr marL="152400" marR="152400" marT="95250" marB="95250" anchor="ctr">
                    <a:solidFill>
                      <a:srgbClr val="F2F5F0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E38"/>
                          </a:solidFill>
                          <a:latin typeface="Noto Sans"/>
                          <a:ea typeface="Noto Sans"/>
                          <a:cs typeface="Noto Sans"/>
                        </a:rPr>
                        <a:t>Future cloud example</a:t>
                      </a:r>
                    </a:p>
                  </a:txBody>
                  <a:tcPr marL="152400" marR="152400" marT="95250" marB="95250" anchor="ctr">
                    <a:solidFill>
                      <a:srgbClr val="F2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E38"/>
                          </a:solidFill>
                          <a:latin typeface="Noto Sans"/>
                          <a:ea typeface="Noto Sans"/>
                          <a:cs typeface="Noto Sans"/>
                        </a:rPr>
                        <a:t>US$37–78/month</a:t>
                      </a:r>
                    </a:p>
                  </a:txBody>
                  <a:tcPr marL="152400" marR="152400" marT="95250" marB="95250" anchor="ctr">
                    <a:solidFill>
                      <a:srgbClr val="F2F5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43E38"/>
                          </a:solidFill>
                          <a:latin typeface="Noto Sans"/>
                          <a:ea typeface="Noto Sans"/>
                          <a:cs typeface="Noto Sans"/>
                        </a:rPr>
                        <a:t>7–30 days of audio</a:t>
                      </a:r>
                    </a:p>
                  </a:txBody>
                  <a:tcPr marL="152400" marR="152400" marT="95250" marB="95250" anchor="ctr">
                    <a:solidFill>
                      <a:srgbClr val="F2F5F0"/>
                    </a:solidFill>
                  </a:tcPr>
                </a:tc>
              </a:tr>
            </a:tbl>
          </a:graphicData>
        </a:graphic>
      </p:graphicFrame>
      <p:sp>
        <p:nvSpPr>
          <p:cNvPr id="4" name="text-67">
            <a:extLst xmlns:a="http://schemas.openxmlformats.org/drawingml/2006/main">
              <a:ext uri="{FF2B5EF4-FFF2-40B4-BE49-F238E27FC236}">
                <a16:creationId xmlns:a16="http://schemas.microsoft.com/office/drawing/2014/main" id="{66D280AD-4F77-40CC-95F3-B34C5788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2325" b="1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Audio storage is a major design choice</a:t>
            </a:r>
          </a:p>
        </p:txBody>
      </p:sp>
      <p:sp>
        <p:nvSpPr>
          <p:cNvPr id="5" name="text-68">
            <a:extLst xmlns:a="http://schemas.openxmlformats.org/drawingml/2006/main">
              <a:ext uri="{FF2B5EF4-FFF2-40B4-BE49-F238E27FC236}">
                <a16:creationId xmlns:a16="http://schemas.microsoft.com/office/drawing/2014/main" id="{328EB663-BB92-41FD-BEA9-2DB137383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10668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1875" b="0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Three devices recording continuously produce about 374 GB and 7.78 million WAV files per 30 days, before backups and database storage.</a:t>
            </a:r>
          </a:p>
        </p:txBody>
      </p:sp>
    </p:spTree>
    <p:extLst>
      <p:ext uri="{BB962C8B-B14F-4D97-AF65-F5344CB8AC3E}">
        <p14:creationId xmlns:p14="http://schemas.microsoft.com/office/powerpoint/2010/main" val="17773228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2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text-69">
            <a:extLst xmlns:a="http://schemas.openxmlformats.org/drawingml/2006/main">
              <a:ext uri="{FF2B5EF4-FFF2-40B4-BE49-F238E27FC236}">
                <a16:creationId xmlns:a16="http://schemas.microsoft.com/office/drawing/2014/main" id="{B971C2DA-0838-45A6-A5B1-6E7EA8D2D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3300" b="1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The next 12 months</a:t>
            </a:r>
          </a:p>
        </p:txBody>
      </p:sp>
      <p:sp>
        <p:nvSpPr>
          <p:cNvPr id="2" name="text-70">
            <a:extLst xmlns:a="http://schemas.openxmlformats.org/drawingml/2006/main">
              <a:ext uri="{FF2B5EF4-FFF2-40B4-BE49-F238E27FC236}">
                <a16:creationId xmlns:a16="http://schemas.microsoft.com/office/drawing/2014/main" id="{6190DC89-746C-4F75-A394-41986487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055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27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r">
              <a:defRPr sz="127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pPr>
            <a:r>
              <a:rPr sz="1275" b="0">
                <a:solidFill>
                  <a:srgbClr val="536860"/>
                </a:solidFill>
                <a:latin typeface="Noto Sans"/>
                <a:ea typeface="Noto Sans"/>
                <a:cs typeface="Noto Sans"/>
              </a:rPr>
              <a:t>11</a:t>
            </a:r>
          </a:p>
        </p:txBody>
      </p:sp>
      <p:sp>
        <p:nvSpPr>
          <p:cNvPr id="3" name="text-71">
            <a:extLst xmlns:a="http://schemas.openxmlformats.org/drawingml/2006/main">
              <a:ext uri="{FF2B5EF4-FFF2-40B4-BE49-F238E27FC236}">
                <a16:creationId xmlns:a16="http://schemas.microsoft.com/office/drawing/2014/main" id="{D3E18879-94E9-46F1-A6D7-9C98EF16B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2066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67463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67463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267463"/>
                </a:solidFill>
                <a:latin typeface="Noto Sans"/>
                <a:ea typeface="Noto Sans"/>
                <a:cs typeface="Noto Sans"/>
              </a:rPr>
              <a:t>Oct–Nov 2026</a:t>
            </a:r>
          </a:p>
        </p:txBody>
      </p:sp>
      <p:sp>
        <p:nvSpPr>
          <p:cNvPr id="4" name="text-72">
            <a:extLst xmlns:a="http://schemas.openxmlformats.org/drawingml/2006/main">
              <a:ext uri="{FF2B5EF4-FFF2-40B4-BE49-F238E27FC236}">
                <a16:creationId xmlns:a16="http://schemas.microsoft.com/office/drawing/2014/main" id="{CA60E1AB-537E-4FA6-8252-B8502B78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438275"/>
            <a:ext cx="85820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Step 8 acceptance, one real calibrated device and ten buyer interviews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BFF2D4-6666-4FEB-B5EE-5A03DC3B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43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8CF"/>
            </a:solidFill>
          </a:ln>
        </p:spPr>
      </p:sp>
      <p:sp>
        <p:nvSpPr>
          <p:cNvPr id="6" name="text-73">
            <a:extLst xmlns:a="http://schemas.openxmlformats.org/drawingml/2006/main">
              <a:ext uri="{FF2B5EF4-FFF2-40B4-BE49-F238E27FC236}">
                <a16:creationId xmlns:a16="http://schemas.microsoft.com/office/drawing/2014/main" id="{B9775F86-5E3B-44BD-B9BC-68FBB37AF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2066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67463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67463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267463"/>
                </a:solidFill>
                <a:latin typeface="Noto Sans"/>
                <a:ea typeface="Noto Sans"/>
                <a:cs typeface="Noto Sans"/>
              </a:rPr>
              <a:t>Dec 2026–</a:t>
            </a:r>
          </a:p>
          <a:p xmlns:a="http://schemas.openxmlformats.org/drawingml/2006/main">
            <a:pPr algn="l">
              <a:defRPr sz="2100" b="1">
                <a:solidFill>
                  <a:srgbClr val="267463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267463"/>
                </a:solidFill>
                <a:latin typeface="Noto Sans"/>
                <a:ea typeface="Noto Sans"/>
                <a:cs typeface="Noto Sans"/>
              </a:rPr>
              <a:t>Mar 2027</a:t>
            </a:r>
          </a:p>
        </p:txBody>
      </p:sp>
      <p:sp>
        <p:nvSpPr>
          <p:cNvPr id="7" name="text-74">
            <a:extLst xmlns:a="http://schemas.openxmlformats.org/drawingml/2006/main">
              <a:ext uri="{FF2B5EF4-FFF2-40B4-BE49-F238E27FC236}">
                <a16:creationId xmlns:a16="http://schemas.microsoft.com/office/drawing/2014/main" id="{BC54BD30-59C2-4FA3-AB63-B79531C9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05050"/>
            <a:ext cx="85820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First pilot, then agreed retention, backup and viewer access controls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90C83F-1B7A-4FBF-94F3-E7145B66D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8CF"/>
            </a:solidFill>
          </a:ln>
        </p:spPr>
      </p:sp>
      <p:sp>
        <p:nvSpPr>
          <p:cNvPr id="9" name="text-75">
            <a:extLst xmlns:a="http://schemas.openxmlformats.org/drawingml/2006/main">
              <a:ext uri="{FF2B5EF4-FFF2-40B4-BE49-F238E27FC236}">
                <a16:creationId xmlns:a16="http://schemas.microsoft.com/office/drawing/2014/main" id="{DAE929F8-9708-4D8C-9F4F-16C5ED72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2066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67463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67463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267463"/>
                </a:solidFill>
                <a:latin typeface="Noto Sans"/>
                <a:ea typeface="Noto Sans"/>
                <a:cs typeface="Noto Sans"/>
              </a:rPr>
              <a:t>Apr–Jul 2027</a:t>
            </a:r>
          </a:p>
        </p:txBody>
      </p:sp>
      <p:sp>
        <p:nvSpPr>
          <p:cNvPr id="10" name="text-76">
            <a:extLst xmlns:a="http://schemas.openxmlformats.org/drawingml/2006/main">
              <a:ext uri="{FF2B5EF4-FFF2-40B4-BE49-F238E27FC236}">
                <a16:creationId xmlns:a16="http://schemas.microsoft.com/office/drawing/2014/main" id="{CA6949C1-B6C6-41B2-BF2F-BCEF600F0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71825"/>
            <a:ext cx="85820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Expand from 5 to 12 communities only after site and capacity checks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44C08B-0F57-4160-AA77-45006671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CD8CF"/>
            </a:solidFill>
          </a:ln>
        </p:spPr>
      </p:sp>
      <p:sp>
        <p:nvSpPr>
          <p:cNvPr id="12" name="text-77">
            <a:extLst xmlns:a="http://schemas.openxmlformats.org/drawingml/2006/main">
              <a:ext uri="{FF2B5EF4-FFF2-40B4-BE49-F238E27FC236}">
                <a16:creationId xmlns:a16="http://schemas.microsoft.com/office/drawing/2014/main" id="{FC98330A-9F41-452A-983A-87314992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20669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267463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267463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267463"/>
                </a:solidFill>
                <a:latin typeface="Noto Sans"/>
                <a:ea typeface="Noto Sans"/>
                <a:cs typeface="Noto Sans"/>
              </a:rPr>
              <a:t>Aug–Sep 2027</a:t>
            </a:r>
          </a:p>
        </p:txBody>
      </p:sp>
      <p:sp>
        <p:nvSpPr>
          <p:cNvPr id="13" name="text-78">
            <a:extLst xmlns:a="http://schemas.openxmlformats.org/drawingml/2006/main">
              <a:ext uri="{FF2B5EF4-FFF2-40B4-BE49-F238E27FC236}">
                <a16:creationId xmlns:a16="http://schemas.microsoft.com/office/drawing/2014/main" id="{F86734B9-D58E-4557-BCF9-25E7EDF9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038600"/>
            <a:ext cx="85820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43E38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143E38"/>
                </a:solidFill>
                <a:latin typeface="Noto Sans"/>
                <a:ea typeface="Noto Sans"/>
                <a:cs typeface="Noto Sans"/>
              </a:rPr>
              <a:t>Target 20 communities and 100 recurring reviewers if evidence supports it</a:t>
            </a:r>
          </a:p>
        </p:txBody>
      </p:sp>
      <p:sp>
        <p:nvSpPr>
          <p:cNvPr id="14" name="text-79">
            <a:extLst xmlns:a="http://schemas.openxmlformats.org/drawingml/2006/main">
              <a:ext uri="{FF2B5EF4-FFF2-40B4-BE49-F238E27FC236}">
                <a16:creationId xmlns:a16="http://schemas.microsoft.com/office/drawing/2014/main" id="{042D17ED-D859-4A16-83D2-A1C4F4846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67463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67463"/>
                </a:solidFill>
                <a:latin typeface="Noto Sans"/>
                <a:ea typeface="Noto Sans"/>
                <a:cs typeface="Noto Sans"/>
              </a:defRPr>
            </a:pPr>
            <a:r>
              <a:rPr sz="2325" b="1">
                <a:solidFill>
                  <a:srgbClr val="267463"/>
                </a:solidFill>
                <a:latin typeface="Noto Sans"/>
                <a:ea typeface="Noto Sans"/>
                <a:cs typeface="Noto Sans"/>
              </a:rPr>
              <a:t>Local simulated demonstration: ready</a:t>
            </a:r>
          </a:p>
        </p:txBody>
      </p:sp>
      <p:sp>
        <p:nvSpPr>
          <p:cNvPr id="15" name="text-80">
            <a:extLst xmlns:a="http://schemas.openxmlformats.org/drawingml/2006/main">
              <a:ext uri="{FF2B5EF4-FFF2-40B4-BE49-F238E27FC236}">
                <a16:creationId xmlns:a16="http://schemas.microsoft.com/office/drawing/2014/main" id="{18090300-DD2E-4207-93AC-DACABADD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97521F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97521F"/>
                </a:solidFill>
                <a:latin typeface="Noto Sans"/>
                <a:ea typeface="Noto Sans"/>
                <a:cs typeface="Noto Sans"/>
              </a:defRPr>
            </a:pPr>
            <a:r>
              <a:rPr sz="2325" b="1">
                <a:solidFill>
                  <a:srgbClr val="97521F"/>
                </a:solidFill>
                <a:latin typeface="Noto Sans"/>
                <a:ea typeface="Noto Sans"/>
                <a:cs typeface="Noto Sans"/>
              </a:rPr>
              <a:t>Physical monitoring: pending board test and calibration</a:t>
            </a:r>
          </a:p>
        </p:txBody>
      </p:sp>
      <p:sp>
        <p:nvSpPr>
          <p:cNvPr id="16" name="text-81">
            <a:extLst xmlns:a="http://schemas.openxmlformats.org/drawingml/2006/main">
              <a:ext uri="{FF2B5EF4-FFF2-40B4-BE49-F238E27FC236}">
                <a16:creationId xmlns:a16="http://schemas.microsoft.com/office/drawing/2014/main" id="{E26C00FB-0D50-4BCE-A4F4-63DB4D149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67450"/>
            <a:ext cx="1076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36860"/>
                </a:solidFill>
                <a:latin typeface="Noto Sans"/>
                <a:ea typeface="Noto Sans"/>
                <a:cs typeface="Noto Sans"/>
              </a:defRPr>
            </a:pPr>
            <a:r>
              <a:rPr sz="1575" b="0">
                <a:solidFill>
                  <a:srgbClr val="536860"/>
                </a:solidFill>
                <a:latin typeface="Noto Sans"/>
                <a:ea typeface="Noto Sans"/>
                <a:cs typeface="Noto Sans"/>
              </a:rPr>
              <a:t>Next milestone: real microphone, ESP32, UrbanEcho, incident alert and daily summary.</a:t>
            </a:r>
          </a:p>
        </p:txBody>
      </p:sp>
    </p:spTree>
    <p:extLst>
      <p:ext uri="{BB962C8B-B14F-4D97-AF65-F5344CB8AC3E}">
        <p14:creationId xmlns:p14="http://schemas.microsoft.com/office/powerpoint/2010/main" val="11961243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2026-10-09T13:27:02.3660000Z</dcterms:created>
  <dcterms:modified xsi:type="dcterms:W3CDTF">2026-10-09T13:27:02.3660000Z</dcterms:modified>
</coreProperties>
</file>